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64008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DDE6F0"/>
                </a:solidFill>
                <a:latin typeface="Segoe UI"/>
              </a:rPr>
              <a:t>SISTEM MANAJEMEN PENERBITAN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60704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Segoe UI"/>
              </a:rPr>
              <a:t>Panduan Pengguna
SiMAPA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05840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0">
                <a:solidFill>
                  <a:srgbClr val="E7EEF6"/>
                </a:solidFill>
                <a:latin typeface="Segoe UI"/>
              </a:rPr>
              <a:t>Panduan lengkap seluruh modul untuk staf &amp; tim helpdesk — cara kerja, langkah pemakaian, hak akses per peran, dan penanganan masalah umum.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806440"/>
            <a:ext cx="1113739" cy="310896"/>
          </a:xfrm>
          <a:prstGeom prst="roundRect">
            <a:avLst>
              <a:gd name="adj" fmla="val 6000"/>
            </a:avLst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801868"/>
            <a:ext cx="1113739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Semua Modul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46427" y="5806440"/>
            <a:ext cx="755294" cy="310896"/>
          </a:xfrm>
          <a:prstGeom prst="roundRect">
            <a:avLst>
              <a:gd name="adj" fmla="val 6000"/>
            </a:avLst>
          </a:prstGeom>
          <a:solidFill>
            <a:srgbClr val="0F6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6427" y="5801868"/>
            <a:ext cx="755294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6 Peran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11449" y="5806440"/>
            <a:ext cx="1292961" cy="310896"/>
          </a:xfrm>
          <a:prstGeom prst="roundRect">
            <a:avLst>
              <a:gd name="adj" fmla="val 600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1449" y="5801868"/>
            <a:ext cx="1292961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Buku &amp; Jurnal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4138" y="5806440"/>
            <a:ext cx="1024128" cy="310896"/>
          </a:xfrm>
          <a:prstGeom prst="roundRect">
            <a:avLst>
              <a:gd name="adj" fmla="val 6000"/>
            </a:avLst>
          </a:prstGeom>
          <a:solidFill>
            <a:srgbClr val="B33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4138" y="5801868"/>
            <a:ext cx="1024128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+ Helpdesk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IKHTISAR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Daftar 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5731D"/>
                </a:solidFill>
                <a:latin typeface="Segoe UI"/>
              </a:rPr>
              <a:t>A. </a:t>
            </a:r>
            <a:r>
              <a:rPr sz="1400" b="1">
                <a:solidFill>
                  <a:srgbClr val="202833"/>
                </a:solidFill>
                <a:latin typeface="Segoe UI"/>
              </a:rPr>
              <a:t>Konsep Dasar</a:t>
            </a:r>
            <a:r>
              <a:rPr sz="1400" b="0">
                <a:solidFill>
                  <a:srgbClr val="6B7480"/>
                </a:solidFill>
                <a:latin typeface="Segoe UI"/>
              </a:rPr>
              <a:t>  — apa itu SiMAPA, produk, 7 fase, peran, login &amp; dashboard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5731D"/>
                </a:solidFill>
                <a:latin typeface="Segoe UI"/>
              </a:rPr>
              <a:t>B. </a:t>
            </a:r>
            <a:r>
              <a:rPr sz="1400" b="1">
                <a:solidFill>
                  <a:srgbClr val="202833"/>
                </a:solidFill>
                <a:latin typeface="Segoe UI"/>
              </a:rPr>
              <a:t>Prospek &amp; Order</a:t>
            </a:r>
            <a:r>
              <a:rPr sz="1400" b="0">
                <a:solidFill>
                  <a:srgbClr val="6B7480"/>
                </a:solidFill>
                <a:latin typeface="Segoe UI"/>
              </a:rPr>
              <a:t>  — Tagihan, Buat Order, Daftar Order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5731D"/>
                </a:solidFill>
                <a:latin typeface="Segoe UI"/>
              </a:rPr>
              <a:t>C. </a:t>
            </a:r>
            <a:r>
              <a:rPr sz="1400" b="1">
                <a:solidFill>
                  <a:srgbClr val="202833"/>
                </a:solidFill>
                <a:latin typeface="Segoe UI"/>
              </a:rPr>
              <a:t>Pembayaran &amp; Keuangan Order</a:t>
            </a:r>
            <a:r>
              <a:rPr sz="1400" b="0">
                <a:solidFill>
                  <a:srgbClr val="6B7480"/>
                </a:solidFill>
                <a:latin typeface="Segoe UI"/>
              </a:rPr>
              <a:t>  — Pembayaran, Persetujuan, Invoice, Refund, Laporan, Target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5731D"/>
                </a:solidFill>
                <a:latin typeface="Segoe UI"/>
              </a:rPr>
              <a:t>D. </a:t>
            </a:r>
            <a:r>
              <a:rPr sz="1400" b="1">
                <a:solidFill>
                  <a:srgbClr val="202833"/>
                </a:solidFill>
                <a:latin typeface="Segoe UI"/>
              </a:rPr>
              <a:t>Direktori &amp; Dokumen</a:t>
            </a:r>
            <a:r>
              <a:rPr sz="1400" b="0">
                <a:solidFill>
                  <a:srgbClr val="6B7480"/>
                </a:solidFill>
                <a:latin typeface="Segoe UI"/>
              </a:rPr>
              <a:t>  — Judul, Info Publikasi, Kelengkapan Dokumen, Jurnal, ISBN, Author, Arsip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5731D"/>
                </a:solidFill>
                <a:latin typeface="Segoe UI"/>
              </a:rPr>
              <a:t>E. </a:t>
            </a:r>
            <a:r>
              <a:rPr sz="1400" b="1">
                <a:solidFill>
                  <a:srgbClr val="202833"/>
                </a:solidFill>
                <a:latin typeface="Segoe UI"/>
              </a:rPr>
              <a:t>Produksi Naskah</a:t>
            </a:r>
            <a:r>
              <a:rPr sz="1400" b="0">
                <a:solidFill>
                  <a:srgbClr val="6B7480"/>
                </a:solidFill>
                <a:latin typeface="Segoe UI"/>
              </a:rPr>
              <a:t>  — Pelacakan (read-only), Distribusi Artikel, Distribusi Buku, upload naskah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5731D"/>
                </a:solidFill>
                <a:latin typeface="Segoe UI"/>
              </a:rPr>
              <a:t>F. </a:t>
            </a:r>
            <a:r>
              <a:rPr sz="1400" b="1">
                <a:solidFill>
                  <a:srgbClr val="202833"/>
                </a:solidFill>
                <a:latin typeface="Segoe UI"/>
              </a:rPr>
              <a:t>Akuntansi</a:t>
            </a:r>
            <a:r>
              <a:rPr sz="1400" b="0">
                <a:solidFill>
                  <a:srgbClr val="6B7480"/>
                </a:solidFill>
                <a:latin typeface="Segoe UI"/>
              </a:rPr>
              <a:t>  — Jurnal Kas, Rekap, Distribusi Profit, Asumsi, Target, Kunci Periode, Audit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5731D"/>
                </a:solidFill>
                <a:latin typeface="Segoe UI"/>
              </a:rPr>
              <a:t>G. </a:t>
            </a:r>
            <a:r>
              <a:rPr sz="1400" b="1">
                <a:solidFill>
                  <a:srgbClr val="202833"/>
                </a:solidFill>
                <a:latin typeface="Segoe UI"/>
              </a:rPr>
              <a:t>Slip Gaji &amp; Alat Kerja</a:t>
            </a:r>
            <a:r>
              <a:rPr sz="1400" b="0">
                <a:solidFill>
                  <a:srgbClr val="6B7480"/>
                </a:solidFill>
                <a:latin typeface="Segoe UI"/>
              </a:rPr>
              <a:t>  — Slip Gaji, Tugas, Laporan Harian, Gudang Data, Pengumuman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5731D"/>
                </a:solidFill>
                <a:latin typeface="Segoe UI"/>
              </a:rPr>
              <a:t>H. </a:t>
            </a:r>
            <a:r>
              <a:rPr sz="1400" b="1">
                <a:solidFill>
                  <a:srgbClr val="202833"/>
                </a:solidFill>
                <a:latin typeface="Segoe UI"/>
              </a:rPr>
              <a:t>Administrasi Sistem</a:t>
            </a:r>
            <a:r>
              <a:rPr sz="1400" b="0">
                <a:solidFill>
                  <a:srgbClr val="6B7480"/>
                </a:solidFill>
                <a:latin typeface="Segoe UI"/>
              </a:rPr>
              <a:t>  — Manajemen User, Hak Akses, Profil, Notifikasi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3352F"/>
                </a:solidFill>
                <a:latin typeface="Segoe UI"/>
              </a:rPr>
              <a:t>I. </a:t>
            </a:r>
            <a:r>
              <a:rPr sz="1400" b="1">
                <a:solidFill>
                  <a:srgbClr val="B3352F"/>
                </a:solidFill>
                <a:latin typeface="Segoe UI"/>
              </a:rPr>
              <a:t>HELPDESK &amp; Troubleshooting</a:t>
            </a:r>
            <a:r>
              <a:rPr sz="1400" b="0">
                <a:solidFill>
                  <a:srgbClr val="6B7480"/>
                </a:solidFill>
                <a:latin typeface="Segoe UI"/>
              </a:rPr>
              <a:t>  — kumpulan masalah umum + solusi + eskalasi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Ikhtisar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737360" cy="82296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058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DDE6F0"/>
                </a:solidFill>
                <a:latin typeface="Segoe UI"/>
              </a:rPr>
              <a:t>BAGIAN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60704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Konsep Dasar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0584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0">
                <a:solidFill>
                  <a:srgbClr val="E7EEF6"/>
                </a:solidFill>
                <a:latin typeface="Segoe UI"/>
              </a:rPr>
              <a:t>Fondasi yang perlu dipahami semua pengguna sebelum masuk ke modul: apa yang dikelola SiMAPA, jenis produk, alur besar, peran, dan cara hak akses bekerja.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A · GAMBARAN UMUM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Apa itu SiMAPA — satu sistem, satu sumber kebenaran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0">
                <a:solidFill>
                  <a:srgbClr val="202833"/>
                </a:solidFill>
                <a:latin typeface="Segoe UI"/>
              </a:rPr>
              <a:t>SiMAPA menggantikan catatan yang tersebar di spreadsheet, chat, dan ingatan. Semua yang berkaitan dengan satu pesanan penerbitan hidup di satu tempat dan saling terhubung.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5731D"/>
                </a:solidFill>
                <a:latin typeface="Segoe UI"/>
              </a:rPr>
              <a:t>Uang. </a:t>
            </a:r>
            <a:r>
              <a:rPr sz="1400" b="0">
                <a:solidFill>
                  <a:srgbClr val="202833"/>
                </a:solidFill>
                <a:latin typeface="Segoe UI"/>
              </a:rPr>
              <a:t>Tagihan → pembayaran → invoice → jurnal kas. Angka pemasukan tidak diketik dua kali; kas terisi otomatis dari pembayaran.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0F6D70"/>
                </a:solidFill>
                <a:latin typeface="Segoe UI"/>
              </a:rPr>
              <a:t>Naskah. </a:t>
            </a:r>
            <a:r>
              <a:rPr sz="1400" b="0">
                <a:solidFill>
                  <a:srgbClr val="202833"/>
                </a:solidFill>
                <a:latin typeface="Segoe UI"/>
              </a:rPr>
              <a:t>Setiap judul berjalan di rel tahap yang jelas; posisi terakhirnya selalu terlihat, tak ada naskah 'hilang di tengah jalan'.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1F4E79"/>
                </a:solidFill>
                <a:latin typeface="Segoe UI"/>
              </a:rPr>
              <a:t>Bukti. </a:t>
            </a:r>
            <a:r>
              <a:rPr sz="1400" b="0">
                <a:solidFill>
                  <a:srgbClr val="202833"/>
                </a:solidFill>
                <a:latin typeface="Segoe UI"/>
              </a:rPr>
              <a:t>Perpindahan tahap, perubahan status invoice, koreksi data — semua tercatat siapa, kapan, dan catatannya apa.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3352F"/>
                </a:solidFill>
                <a:latin typeface="Segoe UI"/>
              </a:rPr>
              <a:t>Batas. </a:t>
            </a:r>
            <a:r>
              <a:rPr sz="1400" b="0">
                <a:solidFill>
                  <a:srgbClr val="202833"/>
                </a:solidFill>
                <a:latin typeface="Segoe UI"/>
              </a:rPr>
              <a:t>Menu yang muncul di layar Anda = tanggung jawab Anda. Yang bukan hak Anda ditolak sistem, bukan sekadar disembunyikan.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202833"/>
                </a:solidFill>
                <a:latin typeface="Segoe UI"/>
              </a:rPr>
              <a:t>Prinsip: </a:t>
            </a:r>
            <a:r>
              <a:rPr sz="1400" b="0">
                <a:solidFill>
                  <a:srgbClr val="6B7480"/>
                </a:solidFill>
                <a:latin typeface="Segoe UI"/>
              </a:rPr>
              <a:t>data dimasukkan sekali di tempat asalnya, lalu dipakai ulang di semua laporan.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A · Konsep Dasar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A · PRODUK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Empat lini produk, dua rel produksi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532120" cy="489204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532120" cy="82296"/>
          </a:xfrm>
          <a:prstGeom prst="rect">
            <a:avLst/>
          </a:prstGeom>
          <a:solidFill>
            <a:srgbClr val="0F6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17904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0F6D70"/>
                </a:solidFill>
                <a:latin typeface="Segoe UI"/>
              </a:rPr>
              <a:t>Rel Buku — 7 tahap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38528"/>
            <a:ext cx="516636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0F6D70"/>
                </a:solidFill>
                <a:latin typeface="Segoe UI"/>
              </a:rPr>
              <a:t>Buku Mandiri </a:t>
            </a:r>
            <a:r>
              <a:rPr sz="1300" b="0">
                <a:solidFill>
                  <a:srgbClr val="202833"/>
                </a:solidFill>
                <a:latin typeface="Segoe UI"/>
              </a:rPr>
              <a:t>(bk_mandiri) — satu klien, satu buku utuh.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0F6D70"/>
                </a:solidFill>
                <a:latin typeface="Segoe UI"/>
              </a:rPr>
              <a:t>Buku Kolaborasi </a:t>
            </a:r>
            <a:r>
              <a:rPr sz="1300" b="0">
                <a:solidFill>
                  <a:srgbClr val="202833"/>
                </a:solidFill>
                <a:latin typeface="Segoe UI"/>
              </a:rPr>
              <a:t>(bk_kolab) — banyak penulis, dibagi per bab.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0">
                <a:solidFill>
                  <a:srgbClr val="6B7480"/>
                </a:solidFill>
                <a:latin typeface="Segoe UI"/>
              </a:rPr>
              <a:t>Ciri: punya jumlah bab, butuh ISBN, bisa dilacak per bab bila kolaborasi.</a:t>
            </a:r>
          </a:p>
          <a:p>
            <a:pPr>
              <a:spcBef>
                <a:spcPts val="400"/>
              </a:spcBef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0">
                <a:solidFill>
                  <a:srgbClr val="202833"/>
                </a:solidFill>
                <a:latin typeface="Segoe UI"/>
              </a:rPr>
              <a:t>Tahap: Menunggu Proses → Editing → Layout → Proofreading → ISBN → Cetak → Terbit.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71600"/>
            <a:ext cx="5532120" cy="489204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371600"/>
            <a:ext cx="5532120" cy="82296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517904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6B3FA0"/>
                </a:solidFill>
                <a:latin typeface="Segoe UI"/>
              </a:rPr>
              <a:t>Rel Artikel / Jurnal — 7 tahap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38528"/>
            <a:ext cx="516636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6B3FA0"/>
                </a:solidFill>
                <a:latin typeface="Segoe UI"/>
              </a:rPr>
              <a:t>Jurnal Mandiri </a:t>
            </a:r>
            <a:r>
              <a:rPr sz="1300" b="0">
                <a:solidFill>
                  <a:srgbClr val="202833"/>
                </a:solidFill>
                <a:latin typeface="Segoe UI"/>
              </a:rPr>
              <a:t>(at_mandiri) — satu penulis, satu artikel.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6B3FA0"/>
                </a:solidFill>
                <a:latin typeface="Segoe UI"/>
              </a:rPr>
              <a:t>Jurnal Kolaborasi </a:t>
            </a:r>
            <a:r>
              <a:rPr sz="1300" b="0">
                <a:solidFill>
                  <a:srgbClr val="202833"/>
                </a:solidFill>
                <a:latin typeface="Segoe UI"/>
              </a:rPr>
              <a:t>(at_kolab) — beberapa penulis satu artikel.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0">
                <a:solidFill>
                  <a:srgbClr val="6B7480"/>
                </a:solidFill>
                <a:latin typeface="Segoe UI"/>
              </a:rPr>
              <a:t>Ciri: punya target indeksasi (SINTA/Scopus/DOAJ…), butuh LoA, berakhir di publish.</a:t>
            </a:r>
          </a:p>
          <a:p>
            <a:pPr>
              <a:spcBef>
                <a:spcPts val="400"/>
              </a:spcBef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0">
                <a:solidFill>
                  <a:srgbClr val="202833"/>
                </a:solidFill>
                <a:latin typeface="Segoe UI"/>
              </a:rPr>
              <a:t>Tahap: Menunggu Proses → Templating → Editing → Revisi → Submit → LoA → Publish.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A · Konsep Dasar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A · ALUR BESAR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Peta 7 fase perjalanan satu pekerjaan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5731D"/>
                </a:solidFill>
                <a:latin typeface="Segoe UI"/>
              </a:rPr>
              <a:t>Fase 1 — Prospek. </a:t>
            </a:r>
            <a:r>
              <a:rPr sz="1400" b="0">
                <a:solidFill>
                  <a:srgbClr val="202833"/>
                </a:solidFill>
                <a:latin typeface="Segoe UI"/>
              </a:rPr>
              <a:t>Tagihan diajukan &amp; disetujui (penawaran resmi ke calon klien).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5731D"/>
                </a:solidFill>
                <a:latin typeface="Segoe UI"/>
              </a:rPr>
              <a:t>Fase 2 — Order. </a:t>
            </a:r>
            <a:r>
              <a:rPr sz="1400" b="0">
                <a:solidFill>
                  <a:srgbClr val="202833"/>
                </a:solidFill>
                <a:latin typeface="Segoe UI"/>
              </a:rPr>
              <a:t>Pesanan resmi terbentuk: kode order, judul, biaya, naskah masuk antrean produksi.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5731D"/>
                </a:solidFill>
                <a:latin typeface="Segoe UI"/>
              </a:rPr>
              <a:t>Fase 3 — Pembayaran. </a:t>
            </a:r>
            <a:r>
              <a:rPr sz="1400" b="0">
                <a:solidFill>
                  <a:srgbClr val="202833"/>
                </a:solidFill>
                <a:latin typeface="Segoe UI"/>
              </a:rPr>
              <a:t>DP, pelunasan, invoice, persetujuan; kas terisi otomatis.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5731D"/>
                </a:solidFill>
                <a:latin typeface="Segoe UI"/>
              </a:rPr>
              <a:t>Fase 4 — Judul &amp; Dokumen. </a:t>
            </a:r>
            <a:r>
              <a:rPr sz="1400" b="0">
                <a:solidFill>
                  <a:srgbClr val="202833"/>
                </a:solidFill>
                <a:latin typeface="Segoe UI"/>
              </a:rPr>
              <a:t>Judul divalidasi, info publikasi &amp; kelengkapan berkas dilengkapi.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5731D"/>
                </a:solidFill>
                <a:latin typeface="Segoe UI"/>
              </a:rPr>
              <a:t>Fase 5 — Produksi. </a:t>
            </a:r>
            <a:r>
              <a:rPr sz="1400" b="0">
                <a:solidFill>
                  <a:srgbClr val="202833"/>
                </a:solidFill>
                <a:latin typeface="Segoe UI"/>
              </a:rPr>
              <a:t>Naskah berjalan di rel tahap; editor ditugaskan; file naskah diunggah.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5731D"/>
                </a:solidFill>
                <a:latin typeface="Segoe UI"/>
              </a:rPr>
              <a:t>Fase 6 — Arsip. </a:t>
            </a:r>
            <a:r>
              <a:rPr sz="1400" b="0">
                <a:solidFill>
                  <a:srgbClr val="202833"/>
                </a:solidFill>
                <a:latin typeface="Segoe UI"/>
              </a:rPr>
              <a:t>Terbit/publish + artefak final dikumpulkan &amp; disetujui.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5731D"/>
                </a:solidFill>
                <a:latin typeface="Segoe UI"/>
              </a:rPr>
              <a:t>Fase 7 — Keuangan. </a:t>
            </a:r>
            <a:r>
              <a:rPr sz="1400" b="0">
                <a:solidFill>
                  <a:srgbClr val="202833"/>
                </a:solidFill>
                <a:latin typeface="Segoe UI"/>
              </a:rPr>
              <a:t>Kas, rekap, profit, gaji — menyerap seluruh transaksi.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202833"/>
                </a:solidFill>
                <a:latin typeface="Segoe UI"/>
              </a:rPr>
              <a:t>Catatan: </a:t>
            </a:r>
            <a:r>
              <a:rPr sz="1400" b="0">
                <a:solidFill>
                  <a:srgbClr val="6B7480"/>
                </a:solidFill>
                <a:latin typeface="Segoe UI"/>
              </a:rPr>
              <a:t>Fase 3 (bayar) &amp; Fase 5 (produksi) berjalan paralel — naskah bisa mulai setelah DP.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A · Konsep Dasar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A · MASUK APLIKASI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Login, sesi, dan keamanan akun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0">
                <a:solidFill>
                  <a:srgbClr val="202833"/>
                </a:solidFill>
                <a:latin typeface="Segoe UI"/>
              </a:rPr>
              <a:t>Masuk dengan email &amp; kata sandi yang dibuatkan superadmin/manager lewat Manajemen User.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1">
                <a:solidFill>
                  <a:srgbClr val="202833"/>
                </a:solidFill>
                <a:latin typeface="Segoe UI"/>
              </a:rPr>
              <a:t>Setelah login </a:t>
            </a:r>
            <a:r>
              <a:rPr sz="1500" b="0">
                <a:solidFill>
                  <a:srgbClr val="202833"/>
                </a:solidFill>
                <a:latin typeface="Segoe UI"/>
              </a:rPr>
              <a:t>Anda diarahkan ke Dashboard sesuai peran (lihat slide berikut).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1">
                <a:solidFill>
                  <a:srgbClr val="202833"/>
                </a:solidFill>
                <a:latin typeface="Segoe UI"/>
              </a:rPr>
              <a:t>Lupa kata sandi: </a:t>
            </a:r>
            <a:r>
              <a:rPr sz="1500" b="0">
                <a:solidFill>
                  <a:srgbClr val="202833"/>
                </a:solidFill>
                <a:latin typeface="Segoe UI"/>
              </a:rPr>
              <a:t>gunakan tautan 'Lupa Password' di halaman login (butuh email valid), atau minta superadmin mereset.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1">
                <a:solidFill>
                  <a:srgbClr val="202833"/>
                </a:solidFill>
                <a:latin typeface="Segoe UI"/>
              </a:rPr>
              <a:t>Ubah profil &amp; foto: </a:t>
            </a:r>
            <a:r>
              <a:rPr sz="1500" b="0">
                <a:solidFill>
                  <a:srgbClr val="202833"/>
                </a:solidFill>
                <a:latin typeface="Segoe UI"/>
              </a:rPr>
              <a:t>menu Profil (semua pengguna).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1">
                <a:solidFill>
                  <a:srgbClr val="A8620A"/>
                </a:solidFill>
                <a:latin typeface="Segoe UI"/>
              </a:rPr>
              <a:t>Sesi bisa berakhir </a:t>
            </a:r>
            <a:r>
              <a:rPr sz="1500" b="0">
                <a:solidFill>
                  <a:srgbClr val="202833"/>
                </a:solidFill>
                <a:latin typeface="Segoe UI"/>
              </a:rPr>
              <a:t>bila lama tak aktif — bila form gagal tersimpan, login ulang lalu ulangi.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1">
                <a:solidFill>
                  <a:srgbClr val="202833"/>
                </a:solidFill>
                <a:latin typeface="Segoe UI"/>
              </a:rPr>
              <a:t>Keluar (logout): </a:t>
            </a:r>
            <a:r>
              <a:rPr sz="1500" b="0">
                <a:solidFill>
                  <a:srgbClr val="202833"/>
                </a:solidFill>
                <a:latin typeface="Segoe UI"/>
              </a:rPr>
              <a:t>wajib bila memakai komputer bersama.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A · Konsep Dasar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A · PERAN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Enam peran &amp; tanggung jawab inti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76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108960"/>
                <a:gridCol w="6675120"/>
              </a:tblGrid>
              <a:tr h="39449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Peran</a:t>
                      </a:r>
                    </a:p>
                  </a:txBody>
                  <a:tcPr marL="76200" marR="76200" marT="38100" marB="3810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Fokus</a:t>
                      </a:r>
                    </a:p>
                  </a:txBody>
                  <a:tcPr marL="76200" marR="76200" marT="38100" marB="3810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Yang khas</a:t>
                      </a:r>
                    </a:p>
                  </a:txBody>
                  <a:tcPr marL="76200" marR="76200" marT="38100" marB="38100">
                    <a:solidFill>
                      <a:srgbClr val="1F4E79"/>
                    </a:solidFill>
                  </a:tcPr>
                </a:tc>
              </a:tr>
              <a:tr h="39449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B5731D"/>
                          </a:solidFill>
                          <a:latin typeface="Segoe UI"/>
                        </a:rPr>
                        <a:t>Marketing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833"/>
                          </a:solidFill>
                          <a:latin typeface="Segoe UI"/>
                        </a:rPr>
                        <a:t>Membawa pekerjaan masuk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833"/>
                          </a:solidFill>
                          <a:latin typeface="Segoe UI"/>
                        </a:rPr>
                        <a:t>Tagihan, Order, setor bayar, target — hanya order miliknya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39449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F6D70"/>
                          </a:solidFill>
                          <a:latin typeface="Segoe UI"/>
                        </a:rPr>
                        <a:t>Production</a:t>
                      </a:r>
                    </a:p>
                  </a:txBody>
                  <a:tcPr marL="76200" marR="76200" marT="38100" marB="38100">
                    <a:solidFill>
                      <a:srgbClr val="F3F0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833"/>
                          </a:solidFill>
                          <a:latin typeface="Segoe UI"/>
                        </a:rPr>
                        <a:t>Mengerjakan naskah</a:t>
                      </a:r>
                    </a:p>
                  </a:txBody>
                  <a:tcPr marL="76200" marR="76200" marT="38100" marB="38100">
                    <a:solidFill>
                      <a:srgbClr val="F3F0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833"/>
                          </a:solidFill>
                          <a:latin typeface="Segoe UI"/>
                        </a:rPr>
                        <a:t>Distribusi/Pelacakan, ISBN, artefak arsip — tak lihat uang</a:t>
                      </a:r>
                    </a:p>
                  </a:txBody>
                  <a:tcPr marL="76200" marR="76200" marT="38100" marB="38100">
                    <a:solidFill>
                      <a:srgbClr val="F3F0EA"/>
                    </a:solidFill>
                  </a:tcPr>
                </a:tc>
              </a:tr>
              <a:tr h="39449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5FBF"/>
                          </a:solidFill>
                          <a:latin typeface="Segoe UI"/>
                        </a:rPr>
                        <a:t>Admin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833"/>
                          </a:solidFill>
                          <a:latin typeface="Segoe UI"/>
                        </a:rPr>
                        <a:t>Merapikan data induk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833"/>
                          </a:solidFill>
                          <a:latin typeface="Segoe UI"/>
                        </a:rPr>
                        <a:t>Direktori, kelengkapan dokumen, pengumuman + distribusi naskah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39449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7A4D"/>
                          </a:solidFill>
                          <a:latin typeface="Segoe UI"/>
                        </a:rPr>
                        <a:t>Accounting</a:t>
                      </a:r>
                    </a:p>
                  </a:txBody>
                  <a:tcPr marL="76200" marR="76200" marT="38100" marB="38100">
                    <a:solidFill>
                      <a:srgbClr val="F3F0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833"/>
                          </a:solidFill>
                          <a:latin typeface="Segoe UI"/>
                        </a:rPr>
                        <a:t>Menjaga pembukuan</a:t>
                      </a:r>
                    </a:p>
                  </a:txBody>
                  <a:tcPr marL="76200" marR="76200" marT="38100" marB="38100">
                    <a:solidFill>
                      <a:srgbClr val="F3F0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833"/>
                          </a:solidFill>
                          <a:latin typeface="Segoe UI"/>
                        </a:rPr>
                        <a:t>Jurnal Kas, rekap, profit, Slip Gaji — tak menyetujui bayar</a:t>
                      </a:r>
                    </a:p>
                  </a:txBody>
                  <a:tcPr marL="76200" marR="76200" marT="38100" marB="38100">
                    <a:solidFill>
                      <a:srgbClr val="F3F0EA"/>
                    </a:solidFill>
                  </a:tcPr>
                </a:tc>
              </a:tr>
              <a:tr h="39449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6B3FA0"/>
                          </a:solidFill>
                          <a:latin typeface="Segoe UI"/>
                        </a:rPr>
                        <a:t>Manager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833"/>
                          </a:solidFill>
                          <a:latin typeface="Segoe UI"/>
                        </a:rPr>
                        <a:t>Mengawasi operasional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833"/>
                          </a:solidFill>
                          <a:latin typeface="Segoe UI"/>
                        </a:rPr>
                        <a:t>Setujui bayar/tagihan, target tim — tanpa Keuangan &amp; Slip Gaji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3945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B3352F"/>
                          </a:solidFill>
                          <a:latin typeface="Segoe UI"/>
                        </a:rPr>
                        <a:t>Superadmin</a:t>
                      </a:r>
                    </a:p>
                  </a:txBody>
                  <a:tcPr marL="76200" marR="76200" marT="38100" marB="38100">
                    <a:solidFill>
                      <a:srgbClr val="F3F0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833"/>
                          </a:solidFill>
                          <a:latin typeface="Segoe UI"/>
                        </a:rPr>
                        <a:t>Wewenang penuh</a:t>
                      </a:r>
                    </a:p>
                  </a:txBody>
                  <a:tcPr marL="76200" marR="76200" marT="38100" marB="38100">
                    <a:solidFill>
                      <a:srgbClr val="F3F0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833"/>
                          </a:solidFill>
                          <a:latin typeface="Segoe UI"/>
                        </a:rPr>
                        <a:t>Refund, kunci periode, Hak Akses, tahap akhir naskah</a:t>
                      </a:r>
                    </a:p>
                  </a:txBody>
                  <a:tcPr marL="76200" marR="76200" marT="38100" marB="38100">
                    <a:solidFill>
                      <a:srgbClr val="F3F0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A · Konsep Dasar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A ·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Yang tampil begitu Anda masuk (per peran)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3352F"/>
                </a:solidFill>
                <a:latin typeface="Segoe UI"/>
              </a:rPr>
              <a:t>Superadmin </a:t>
            </a:r>
            <a:r>
              <a:rPr sz="1400" b="0">
                <a:solidFill>
                  <a:srgbClr val="202833"/>
                </a:solidFill>
                <a:latin typeface="Segoe UI"/>
              </a:rPr>
              <a:t>→ Dashboard Perusahaan + blok Kas (penjualan tim, produksi global, ringkasan kas).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6B3FA0"/>
                </a:solidFill>
                <a:latin typeface="Segoe UI"/>
              </a:rPr>
              <a:t>Manager </a:t>
            </a:r>
            <a:r>
              <a:rPr sz="1400" b="0">
                <a:solidFill>
                  <a:srgbClr val="202833"/>
                </a:solidFill>
                <a:latin typeface="Segoe UI"/>
              </a:rPr>
              <a:t>→ Dashboard Perusahaan (sama, tanpa blok kas).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1F7A4D"/>
                </a:solidFill>
                <a:latin typeface="Segoe UI"/>
              </a:rPr>
              <a:t>Accounting </a:t>
            </a:r>
            <a:r>
              <a:rPr sz="1400" b="0">
                <a:solidFill>
                  <a:srgbClr val="202833"/>
                </a:solidFill>
                <a:latin typeface="Segoe UI"/>
              </a:rPr>
              <a:t>→ Dashboard Keuangan (rekap kas bulanan, YTD, cek celah pengeluaran).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1F5FBF"/>
                </a:solidFill>
                <a:latin typeface="Segoe UI"/>
              </a:rPr>
              <a:t>Admin </a:t>
            </a:r>
            <a:r>
              <a:rPr sz="1400" b="0">
                <a:solidFill>
                  <a:srgbClr val="202833"/>
                </a:solidFill>
                <a:latin typeface="Segoe UI"/>
              </a:rPr>
              <a:t>→ Dashboard Administrasi (judul perlu dilengkapi, statistik tahap naskah).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5731D"/>
                </a:solidFill>
                <a:latin typeface="Segoe UI"/>
              </a:rPr>
              <a:t>Marketing </a:t>
            </a:r>
            <a:r>
              <a:rPr sz="1400" b="0">
                <a:solidFill>
                  <a:srgbClr val="202833"/>
                </a:solidFill>
                <a:latin typeface="Segoe UI"/>
              </a:rPr>
              <a:t>→ Dashboard Penjualan (capaian vs target, order &amp; piutang miliknya).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0F6D70"/>
                </a:solidFill>
                <a:latin typeface="Segoe UI"/>
              </a:rPr>
              <a:t>Production </a:t>
            </a:r>
            <a:r>
              <a:rPr sz="1400" b="0">
                <a:solidFill>
                  <a:srgbClr val="202833"/>
                </a:solidFill>
                <a:latin typeface="Segoe UI"/>
              </a:rPr>
              <a:t>→ Dashboard Produksi (naskah yang ditugaskan, performa, sebaran tahap).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202833"/>
                </a:solidFill>
                <a:latin typeface="Segoe UI"/>
              </a:rPr>
              <a:t>Punya 2 peran? </a:t>
            </a:r>
            <a:r>
              <a:rPr sz="1400" b="0">
                <a:solidFill>
                  <a:srgbClr val="6B7480"/>
                </a:solidFill>
                <a:latin typeface="Segoe UI"/>
              </a:rPr>
              <a:t>Yang tampil = peran dengan prioritas paling atas (urutan di atas). Menu lain tetap ada di sidebar.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A · Konsep Dasar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A · HAK AKSES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Cara kerja hak akses — 'menu = cermin izin'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0">
                <a:solidFill>
                  <a:srgbClr val="202833"/>
                </a:solidFill>
                <a:latin typeface="Segoe UI"/>
              </a:rPr>
              <a:t>Akses ditentukan oleh daftar izin milik peran, bukan sekadar nama peran. Aturan bisa diubah tanpa mengubah kode.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1">
                <a:solidFill>
                  <a:srgbClr val="A8620A"/>
                </a:solidFill>
                <a:latin typeface="Segoe UI"/>
              </a:rPr>
              <a:t>Menu tak muncul </a:t>
            </a:r>
            <a:r>
              <a:rPr sz="1500" b="0">
                <a:solidFill>
                  <a:srgbClr val="202833"/>
                </a:solidFill>
                <a:latin typeface="Segoe UI"/>
              </a:rPr>
              <a:t>= halamannya memang tak bisa dibuka, walau alamatnya diketik manual (hasilnya 403).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1">
                <a:solidFill>
                  <a:srgbClr val="202833"/>
                </a:solidFill>
                <a:latin typeface="Segoe UI"/>
              </a:rPr>
              <a:t>Tertutup secara bawaan: </a:t>
            </a:r>
            <a:r>
              <a:rPr sz="1500" b="0">
                <a:solidFill>
                  <a:srgbClr val="202833"/>
                </a:solidFill>
                <a:latin typeface="Segoe UI"/>
              </a:rPr>
              <a:t>fitur baru tak otomatis terbuka; harus didaftarkan izinnya dulu.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1">
                <a:solidFill>
                  <a:srgbClr val="B3352F"/>
                </a:solidFill>
                <a:latin typeface="Segoe UI"/>
              </a:rPr>
              <a:t>Superadmin </a:t>
            </a:r>
            <a:r>
              <a:rPr sz="1500" b="0">
                <a:solidFill>
                  <a:srgbClr val="202833"/>
                </a:solidFill>
                <a:latin typeface="Segoe UI"/>
              </a:rPr>
              <a:t>melewati semua pemeriksaan (tak perlu daftar izin).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1">
                <a:solidFill>
                  <a:srgbClr val="202833"/>
                </a:solidFill>
                <a:latin typeface="Segoe UI"/>
              </a:rPr>
              <a:t>Merasa 'harusnya bisa'? </a:t>
            </a:r>
            <a:r>
              <a:rPr sz="1500" b="0">
                <a:solidFill>
                  <a:srgbClr val="202833"/>
                </a:solidFill>
                <a:latin typeface="Segoe UI"/>
              </a:rPr>
              <a:t>Catat nama menu + aksi → minta superadmin buka halaman Hak Akses → centang izin peran Anda → simpan → logout-login.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A · Konsep Dasar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737360" cy="82296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058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DDE6F0"/>
                </a:solidFill>
                <a:latin typeface="Segoe UI"/>
              </a:rPr>
              <a:t>BAGIAN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60704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Prospek &amp;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0584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0">
                <a:solidFill>
                  <a:srgbClr val="E7EEF6"/>
                </a:solidFill>
                <a:latin typeface="Segoe UI"/>
              </a:rPr>
              <a:t>Dari calon klien menjadi pesanan resmi: mengajukan Tagihan, membuat Order, dan memahami apa yang otomatis terbentuk.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B · MENU: PEMBAYARAN → TAGIHAN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Tagihan — penawaran harga resmi (opsional)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1">
                <a:solidFill>
                  <a:srgbClr val="B5731D"/>
                </a:solidFill>
                <a:latin typeface="Segoe UI"/>
              </a:rPr>
              <a:t>Fungsi: </a:t>
            </a:r>
            <a:r>
              <a:rPr sz="1500" b="0">
                <a:solidFill>
                  <a:srgbClr val="202833"/>
                </a:solidFill>
                <a:latin typeface="Segoe UI"/>
              </a:rPr>
              <a:t>penawaran harga untuk calon klien, berdiri sendiri (belum terikat order).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1">
                <a:solidFill>
                  <a:srgbClr val="202833"/>
                </a:solidFill>
                <a:latin typeface="Segoe UI"/>
              </a:rPr>
              <a:t>Langkah: </a:t>
            </a:r>
            <a:r>
              <a:rPr sz="1500" b="0">
                <a:solidFill>
                  <a:srgbClr val="202833"/>
                </a:solidFill>
                <a:latin typeface="Segoe UI"/>
              </a:rPr>
              <a:t>Tagihan → Buat Tagihan → isi data klien (nama/email/telepon/instansi), judul, tipe layanan, penulis, nominal, jatuh tempo → Simpan.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1">
                <a:solidFill>
                  <a:srgbClr val="202833"/>
                </a:solidFill>
                <a:latin typeface="Segoe UI"/>
              </a:rPr>
              <a:t>Setelah simpan: </a:t>
            </a:r>
            <a:r>
              <a:rPr sz="1500" b="0">
                <a:solidFill>
                  <a:srgbClr val="202833"/>
                </a:solidFill>
                <a:latin typeface="Segoe UI"/>
              </a:rPr>
              <a:t>status Diajukan; superadmin diberi notifikasi; PDF &amp; kirim ke klien belum aktif.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1">
                <a:solidFill>
                  <a:srgbClr val="1F7A4D"/>
                </a:solidFill>
                <a:latin typeface="Segoe UI"/>
              </a:rPr>
              <a:t>Bisa diubah </a:t>
            </a:r>
            <a:r>
              <a:rPr sz="1500" b="0">
                <a:solidFill>
                  <a:srgbClr val="202833"/>
                </a:solidFill>
                <a:latin typeface="Segoe UI"/>
              </a:rPr>
              <a:t>saat status Diajukan atau Ditolak. Terkunci bila sudah Disetujui / Jadi Order / Dibatalkan.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1">
                <a:solidFill>
                  <a:srgbClr val="202833"/>
                </a:solidFill>
                <a:latin typeface="Segoe UI"/>
              </a:rPr>
              <a:t>Siapa: </a:t>
            </a:r>
            <a:r>
              <a:rPr sz="1500" b="0">
                <a:solidFill>
                  <a:srgbClr val="202833"/>
                </a:solidFill>
                <a:latin typeface="Segoe UI"/>
              </a:rPr>
              <a:t>Marketing &amp; Manager mengajukan/kelola; Manager &amp; Superadmin menyetujui.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1">
                <a:solidFill>
                  <a:srgbClr val="6B7480"/>
                </a:solidFill>
                <a:latin typeface="Segoe UI"/>
              </a:rPr>
              <a:t>Nomor tagihan </a:t>
            </a:r>
            <a:r>
              <a:rPr sz="1500" b="0">
                <a:solidFill>
                  <a:srgbClr val="6B7480"/>
                </a:solidFill>
                <a:latin typeface="Segoe UI"/>
              </a:rPr>
              <a:t>dibuat otomatis — tak perlu dipikirkan.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B · Prospek &amp;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B · SIKLUS TAGIHAN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Siklus hidup tagihan &amp; konversi ke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1">
                <a:solidFill>
                  <a:srgbClr val="202833"/>
                </a:solidFill>
                <a:latin typeface="Segoe UI"/>
              </a:rPr>
              <a:t>Alur status: </a:t>
            </a:r>
            <a:r>
              <a:rPr sz="1500" b="0">
                <a:solidFill>
                  <a:srgbClr val="202833"/>
                </a:solidFill>
                <a:latin typeface="Segoe UI"/>
              </a:rPr>
              <a:t>Diajukan menuju Disetujui menuju Jadi Order. Cabang: Ditolak (wajib alasan, bisa diperbaiki &amp; diajukan ulang), Dibatalkan.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1">
                <a:solidFill>
                  <a:srgbClr val="1F7A4D"/>
                </a:solidFill>
                <a:latin typeface="Segoe UI"/>
              </a:rPr>
              <a:t>Setelah Disetujui: </a:t>
            </a:r>
            <a:r>
              <a:rPr sz="1500" b="0">
                <a:solidFill>
                  <a:srgbClr val="202833"/>
                </a:solidFill>
                <a:latin typeface="Segoe UI"/>
              </a:rPr>
              <a:t>tombol Unduh PDF &amp; Buat Order aktif; pembuat mendapat notifikasi.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1">
                <a:solidFill>
                  <a:srgbClr val="B3352F"/>
                </a:solidFill>
                <a:latin typeface="Segoe UI"/>
              </a:rPr>
              <a:t>Ditolak: </a:t>
            </a:r>
            <a:r>
              <a:rPr sz="1500" b="0">
                <a:solidFill>
                  <a:srgbClr val="202833"/>
                </a:solidFill>
                <a:latin typeface="Segoe UI"/>
              </a:rPr>
              <a:t>alasan wajib diisi penyetuju; pembuat dapat notifikasi berisi alasan.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1">
                <a:solidFill>
                  <a:srgbClr val="202833"/>
                </a:solidFill>
                <a:latin typeface="Segoe UI"/>
              </a:rPr>
              <a:t>Konversi: </a:t>
            </a:r>
            <a:r>
              <a:rPr sz="1500" b="0">
                <a:solidFill>
                  <a:srgbClr val="202833"/>
                </a:solidFill>
                <a:latin typeface="Segoe UI"/>
              </a:rPr>
              <a:t>klik Buat Order pada tagihan disetujui, form order terbuka dengan data klien &amp; nominal sudah terisi.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1">
                <a:solidFill>
                  <a:srgbClr val="202833"/>
                </a:solidFill>
                <a:latin typeface="Segoe UI"/>
              </a:rPr>
              <a:t>Setelah order tersimpan </a:t>
            </a:r>
            <a:r>
              <a:rPr sz="1500" b="0">
                <a:solidFill>
                  <a:srgbClr val="202833"/>
                </a:solidFill>
                <a:latin typeface="Segoe UI"/>
              </a:rPr>
              <a:t>status tagihan menjadi Jadi Order dan tertaut ke kode order.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1">
                <a:solidFill>
                  <a:srgbClr val="6B7480"/>
                </a:solidFill>
                <a:latin typeface="Segoe UI"/>
              </a:rPr>
              <a:t>Tagihan tidak wajib: </a:t>
            </a:r>
            <a:r>
              <a:rPr sz="1500" b="0">
                <a:solidFill>
                  <a:srgbClr val="6B7480"/>
                </a:solidFill>
                <a:latin typeface="Segoe UI"/>
              </a:rPr>
              <a:t>order bisa dibuat langsung tanpa tagihan bila tak perlu penawaran resmi.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B · Prospek &amp;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B · MENU: ORDER → BUAT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Dua jalur pembuatan order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532120" cy="489204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532120" cy="82296"/>
          </a:xfrm>
          <a:prstGeom prst="rect">
            <a:avLst/>
          </a:prstGeom>
          <a:solidFill>
            <a:srgbClr val="0F6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17904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0F6D70"/>
                </a:solidFill>
                <a:latin typeface="Segoe UI"/>
              </a:rPr>
              <a:t>Order Buku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38528"/>
            <a:ext cx="516636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0F6D70"/>
                </a:solidFill>
                <a:latin typeface="Segoe UI"/>
              </a:rPr>
              <a:t>Tipe: </a:t>
            </a:r>
            <a:r>
              <a:rPr sz="1300" b="0">
                <a:solidFill>
                  <a:srgbClr val="202833"/>
                </a:solidFill>
                <a:latin typeface="Segoe UI"/>
              </a:rPr>
              <a:t>Buku Mandiri / Kolaborasi.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0">
                <a:solidFill>
                  <a:srgbClr val="202833"/>
                </a:solidFill>
                <a:latin typeface="Segoe UI"/>
              </a:rPr>
              <a:t>Judul: pilih yang ada atau ketik baru.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0">
                <a:solidFill>
                  <a:srgbClr val="202833"/>
                </a:solidFill>
                <a:latin typeface="Segoe UI"/>
              </a:rPr>
              <a:t>Jumlah bab (menentukan pelacakan per bab), bidang ilmu.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0">
                <a:solidFill>
                  <a:srgbClr val="202833"/>
                </a:solidFill>
                <a:latin typeface="Segoe UI"/>
              </a:rPr>
              <a:t>Naskah: Dibuatkan / Mandiri (dikirim klien).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0">
                <a:solidFill>
                  <a:srgbClr val="202833"/>
                </a:solidFill>
                <a:latin typeface="Segoe UI"/>
              </a:rPr>
              <a:t>Publikasi Regular/Fastrack, biaya, kontak klien (wajib), penulis (min. 1).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71600"/>
            <a:ext cx="5532120" cy="489204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371600"/>
            <a:ext cx="5532120" cy="82296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517904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6B3FA0"/>
                </a:solidFill>
                <a:latin typeface="Segoe UI"/>
              </a:rPr>
              <a:t>Order Jurnal / Artikel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38528"/>
            <a:ext cx="516636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6B3FA0"/>
                </a:solidFill>
                <a:latin typeface="Segoe UI"/>
              </a:rPr>
              <a:t>Tipe: </a:t>
            </a:r>
            <a:r>
              <a:rPr sz="1300" b="0">
                <a:solidFill>
                  <a:srgbClr val="202833"/>
                </a:solidFill>
                <a:latin typeface="Segoe UI"/>
              </a:rPr>
              <a:t>Jurnal Mandiri / Kolaborasi.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0">
                <a:solidFill>
                  <a:srgbClr val="202833"/>
                </a:solidFill>
                <a:latin typeface="Segoe UI"/>
              </a:rPr>
              <a:t>Judul: pilih yang ada atau ketik baru.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0">
                <a:solidFill>
                  <a:srgbClr val="202833"/>
                </a:solidFill>
                <a:latin typeface="Segoe UI"/>
              </a:rPr>
              <a:t>Indeksasi target: SINTA 1-6, Scopus Q1-Q4, DOAJ, WoS, Copernicus, Garuda.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0">
                <a:solidFill>
                  <a:srgbClr val="202833"/>
                </a:solidFill>
                <a:latin typeface="Segoe UI"/>
              </a:rPr>
              <a:t>Bidang ilmu, jenis naskah, publikasi, biaya.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0">
                <a:solidFill>
                  <a:srgbClr val="202833"/>
                </a:solidFill>
                <a:latin typeface="Segoe UI"/>
              </a:rPr>
              <a:t>Kontak klien (wajib), penulis (min. 1) beserta urutan.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B · Prospek &amp;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B · DI BALIK LAYAR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Satu klik Simpan, enam hal terbentuk otomatis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5731D"/>
                </a:solidFill>
                <a:latin typeface="Segoe UI"/>
              </a:rPr>
              <a:t>1. Order </a:t>
            </a:r>
            <a:r>
              <a:rPr sz="1400" b="0">
                <a:solidFill>
                  <a:srgbClr val="202833"/>
                </a:solidFill>
                <a:latin typeface="Segoe UI"/>
              </a:rPr>
              <a:t>— wadah utama: kode order (ORD-…), pemilik, status awal pending.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5731D"/>
                </a:solidFill>
                <a:latin typeface="Segoe UI"/>
              </a:rPr>
              <a:t>2. Rincian Order </a:t>
            </a:r>
            <a:r>
              <a:rPr sz="1400" b="0">
                <a:solidFill>
                  <a:srgbClr val="202833"/>
                </a:solidFill>
                <a:latin typeface="Segoe UI"/>
              </a:rPr>
              <a:t>— tipe, judul, jumlah bab, indeksasi, jenis naskah, biaya.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5731D"/>
                </a:solidFill>
                <a:latin typeface="Segoe UI"/>
              </a:rPr>
              <a:t>3. Judul </a:t>
            </a:r>
            <a:r>
              <a:rPr sz="1400" b="0">
                <a:solidFill>
                  <a:srgbClr val="202833"/>
                </a:solidFill>
                <a:latin typeface="Segoe UI"/>
              </a:rPr>
              <a:t>— dibuat/dipakai ulang, ditautkan; muncul di Direktori Judul.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5731D"/>
                </a:solidFill>
                <a:latin typeface="Segoe UI"/>
              </a:rPr>
              <a:t>4. Progres Naskah </a:t>
            </a:r>
            <a:r>
              <a:rPr sz="1400" b="0">
                <a:solidFill>
                  <a:srgbClr val="202833"/>
                </a:solidFill>
                <a:latin typeface="Segoe UI"/>
              </a:rPr>
              <a:t>— dibuat di tahap Menunggu Proses, masuk antrean produksi.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5731D"/>
                </a:solidFill>
                <a:latin typeface="Segoe UI"/>
              </a:rPr>
              <a:t>5. Kontak &amp; Penulis </a:t>
            </a:r>
            <a:r>
              <a:rPr sz="1400" b="0">
                <a:solidFill>
                  <a:srgbClr val="202833"/>
                </a:solidFill>
                <a:latin typeface="Segoe UI"/>
              </a:rPr>
              <a:t>— tersimpan; penulis masuk Direktori Author.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5731D"/>
                </a:solidFill>
                <a:latin typeface="Segoe UI"/>
              </a:rPr>
              <a:t>6. Bidang Ilmu </a:t>
            </a:r>
            <a:r>
              <a:rPr sz="1400" b="0">
                <a:solidFill>
                  <a:srgbClr val="202833"/>
                </a:solidFill>
                <a:latin typeface="Segoe UI"/>
              </a:rPr>
              <a:t>— nama baru otomatis ditambahkan ke daftar.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A8620A"/>
                </a:solidFill>
                <a:latin typeface="Segoe UI"/>
              </a:rPr>
              <a:t>Judul baru dari order </a:t>
            </a:r>
            <a:r>
              <a:rPr sz="1400" b="0">
                <a:solidFill>
                  <a:srgbClr val="202833"/>
                </a:solidFill>
                <a:latin typeface="Segoe UI"/>
              </a:rPr>
              <a:t>langsung berstatus Disetujui; judul nama+jenis sama dipakai ulang (bukan dibuat kembar).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B · Prospek &amp;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B · MENU: ORDER → DAFTAR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Mengelola daftar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1">
                <a:solidFill>
                  <a:srgbClr val="202833"/>
                </a:solidFill>
                <a:latin typeface="Segoe UI"/>
              </a:rPr>
              <a:t>Pusat kendali order: </a:t>
            </a:r>
            <a:r>
              <a:rPr sz="1500" b="0">
                <a:solidFill>
                  <a:srgbClr val="202833"/>
                </a:solidFill>
                <a:latin typeface="Segoe UI"/>
              </a:rPr>
              <a:t>Lihat detail, Ubah order, Setor pembayaran, Lihat progres naskah, Refund (superadmin).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1">
                <a:solidFill>
                  <a:srgbClr val="202833"/>
                </a:solidFill>
                <a:latin typeface="Segoe UI"/>
              </a:rPr>
              <a:t>Cakupan data: </a:t>
            </a:r>
            <a:r>
              <a:rPr sz="1500" b="0">
                <a:solidFill>
                  <a:srgbClr val="202833"/>
                </a:solidFill>
                <a:latin typeface="Segoe UI"/>
              </a:rPr>
              <a:t>Marketing hanya melihat order miliknya sendiri; Manager &amp; Superadmin seluruh perusahaan.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1">
                <a:solidFill>
                  <a:srgbClr val="202833"/>
                </a:solidFill>
                <a:latin typeface="Segoe UI"/>
              </a:rPr>
              <a:t>Status order: </a:t>
            </a:r>
            <a:r>
              <a:rPr sz="1500" b="0">
                <a:solidFill>
                  <a:srgbClr val="202833"/>
                </a:solidFill>
                <a:latin typeface="Segoe UI"/>
              </a:rPr>
              <a:t>pending menuju lunas (otomatis saat pelunasan masuk atau uang bersih menutup biaya).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1">
                <a:solidFill>
                  <a:srgbClr val="6B7480"/>
                </a:solidFill>
                <a:latin typeface="Segoe UI"/>
              </a:rPr>
              <a:t>Semua daftar </a:t>
            </a:r>
            <a:r>
              <a:rPr sz="1500" b="0">
                <a:solidFill>
                  <a:srgbClr val="6B7480"/>
                </a:solidFill>
                <a:latin typeface="Segoe UI"/>
              </a:rPr>
              <a:t>memakai tabel DataTables — bisa dicari, diurutkan, atur jumlah baris. Manfaatkan kotak pencarian.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1">
                <a:solidFill>
                  <a:srgbClr val="A8620A"/>
                </a:solidFill>
                <a:latin typeface="Segoe UI"/>
              </a:rPr>
              <a:t>Ubah order </a:t>
            </a:r>
            <a:r>
              <a:rPr sz="1500" b="0">
                <a:solidFill>
                  <a:srgbClr val="202833"/>
                </a:solidFill>
                <a:latin typeface="Segoe UI"/>
              </a:rPr>
              <a:t>untuk memperbaiki salah ketik — JANGAN buat order baru sebagai koreksi.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B · Prospek &amp;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737360" cy="82296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058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DDE6F0"/>
                </a:solidFill>
                <a:latin typeface="Segoe UI"/>
              </a:rPr>
              <a:t>BAGIAN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60704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Pembayaran &amp; Keuangan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0584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0">
                <a:solidFill>
                  <a:srgbClr val="E7EEF6"/>
                </a:solidFill>
                <a:latin typeface="Segoe UI"/>
              </a:rPr>
              <a:t>Satu pintu uang masuk: setor bukti, disetujui, invoice lunas, kas tercatat. Plus refund, laporan keuangan, dan target marketing.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C · MENU: DAFTAR ORDER → BAYAR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Menyetor pembayaran klien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1F7A4D"/>
                </a:solidFill>
                <a:latin typeface="Segoe UI"/>
              </a:rPr>
              <a:t>Langkah: </a:t>
            </a:r>
            <a:r>
              <a:rPr sz="1400" b="0">
                <a:solidFill>
                  <a:srgbClr val="202833"/>
                </a:solidFill>
                <a:latin typeface="Segoe UI"/>
              </a:rPr>
              <a:t>buka order, Bayar, layar tampilkan total biaya, sudah dibayar, sisa.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202833"/>
                </a:solidFill>
                <a:latin typeface="Segoe UI"/>
              </a:rPr>
              <a:t>Pilih jenis: </a:t>
            </a:r>
            <a:r>
              <a:rPr sz="1400" b="0">
                <a:solidFill>
                  <a:srgbClr val="202833"/>
                </a:solidFill>
                <a:latin typeface="Segoe UI"/>
              </a:rPr>
              <a:t>DP / Pelunasan / Lunas; isi tanggal bayar &amp; jatuh tempo; nominal.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3352F"/>
                </a:solidFill>
                <a:latin typeface="Segoe UI"/>
              </a:rPr>
              <a:t>Unggah bukti transfer </a:t>
            </a:r>
            <a:r>
              <a:rPr sz="1400" b="0">
                <a:solidFill>
                  <a:srgbClr val="202833"/>
                </a:solidFill>
                <a:latin typeface="Segoe UI"/>
              </a:rPr>
              <a:t>(JPG/PNG/PDF, maks 10 MB) — wajib. Centang bila invoice perlu dikirim ke email klien.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202833"/>
                </a:solidFill>
                <a:latin typeface="Segoe UI"/>
              </a:rPr>
              <a:t>Otomatis terjadi: </a:t>
            </a:r>
            <a:r>
              <a:rPr sz="1400" b="0">
                <a:solidFill>
                  <a:srgbClr val="202833"/>
                </a:solidFill>
                <a:latin typeface="Segoe UI"/>
              </a:rPr>
              <a:t>pembayaran tercatat, invoice terbit (Diterbitkan), antrean persetujuan, entri Jurnal Kas (pemasukan), notifikasi ke manager/superadmin.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A8620A"/>
                </a:solidFill>
                <a:latin typeface="Segoe UI"/>
              </a:rPr>
              <a:t>PENTING: </a:t>
            </a:r>
            <a:r>
              <a:rPr sz="1400" b="0">
                <a:solidFill>
                  <a:srgbClr val="202833"/>
                </a:solidFill>
                <a:latin typeface="Segoe UI"/>
              </a:rPr>
              <a:t>nominal langsung dihitung sebagai uang masuk &amp; mengurangi sisa, bahkan sebelum disetujui. Jangan setor uang yang belum benar-benar masuk.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C · Pembayaran &amp; Keuangan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C · MENU: PEMBAYARAN → PERSETUJUAN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Memeriksa &amp; menyetujui pembayaran (Manager/Superadmin)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1F4E79"/>
                </a:solidFill>
                <a:latin typeface="Segoe UI"/>
              </a:rPr>
              <a:t>1. Periksa: </a:t>
            </a:r>
            <a:r>
              <a:rPr sz="1400" b="0">
                <a:solidFill>
                  <a:srgbClr val="202833"/>
                </a:solidFill>
                <a:latin typeface="Segoe UI"/>
              </a:rPr>
              <a:t>buka bukti transfer, cocokkan nominal &amp; tanggal, pastikan order/klien sesuai.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1F7A4D"/>
                </a:solidFill>
                <a:latin typeface="Segoe UI"/>
              </a:rPr>
              <a:t>2a. Setujui: </a:t>
            </a:r>
            <a:r>
              <a:rPr sz="1400" b="0">
                <a:solidFill>
                  <a:srgbClr val="202833"/>
                </a:solidFill>
                <a:latin typeface="Segoe UI"/>
              </a:rPr>
              <a:t>invoice menjadi Lunas; riwayat invoice mencatat; bila pelunasan, order Lunas; bila diminta, invoice PDF dikirim ke email klien; penyetor dapat notifikasi.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3352F"/>
                </a:solidFill>
                <a:latin typeface="Segoe UI"/>
              </a:rPr>
              <a:t>2b. Tolak: </a:t>
            </a:r>
            <a:r>
              <a:rPr sz="1400" b="0">
                <a:solidFill>
                  <a:srgbClr val="202833"/>
                </a:solidFill>
                <a:latin typeface="Segoe UI"/>
              </a:rPr>
              <a:t>pembayaran ditandai ditolak; penyetor dapat notifikasi; bukti diperbaiki &amp; disetor ulang.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6B7480"/>
                </a:solidFill>
                <a:latin typeface="Segoe UI"/>
              </a:rPr>
              <a:t>Aman klik ganda: </a:t>
            </a:r>
            <a:r>
              <a:rPr sz="1400" b="0">
                <a:solidFill>
                  <a:srgbClr val="6B7480"/>
                </a:solidFill>
                <a:latin typeface="Segoe UI"/>
              </a:rPr>
              <a:t>pembayaran yang sudah disetujui tak diproses ulang; form setor terlindungi dari dobel-submit.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202833"/>
                </a:solidFill>
                <a:latin typeface="Segoe UI"/>
              </a:rPr>
              <a:t>Halaman pendamping: </a:t>
            </a:r>
            <a:r>
              <a:rPr sz="1400" b="0">
                <a:solidFill>
                  <a:srgbClr val="202833"/>
                </a:solidFill>
                <a:latin typeface="Segoe UI"/>
              </a:rPr>
              <a:t>Pembayaran menuju DP/Pembayaran (baru sebagian) &amp; Pelunasan (sudah tuntas).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C · Pembayaran &amp; Keuangan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C · MENU: PEMBAYARAN → INVOICE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Siklus hidup invoice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1">
                <a:solidFill>
                  <a:srgbClr val="202833"/>
                </a:solidFill>
                <a:latin typeface="Segoe UI"/>
              </a:rPr>
              <a:t>Enam status: </a:t>
            </a:r>
            <a:r>
              <a:rPr sz="1500" b="0">
                <a:solidFill>
                  <a:srgbClr val="202833"/>
                </a:solidFill>
                <a:latin typeface="Segoe UI"/>
              </a:rPr>
              <a:t>Draft, Diterbitkan, Jatuh Tempo, Lunas, Refund; cabang Dibatalkan.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1">
                <a:solidFill>
                  <a:srgbClr val="1F7A4D"/>
                </a:solidFill>
                <a:latin typeface="Segoe UI"/>
              </a:rPr>
              <a:t>Otomatis: </a:t>
            </a:r>
            <a:r>
              <a:rPr sz="1500" b="0">
                <a:solidFill>
                  <a:srgbClr val="202833"/>
                </a:solidFill>
                <a:latin typeface="Segoe UI"/>
              </a:rPr>
              <a:t>Diterbitkan (dari setoran) &amp; Lunas (saat approve).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1">
                <a:solidFill>
                  <a:srgbClr val="6B3FA0"/>
                </a:solidFill>
                <a:latin typeface="Segoe UI"/>
              </a:rPr>
              <a:t>Manual: </a:t>
            </a:r>
            <a:r>
              <a:rPr sz="1500" b="0">
                <a:solidFill>
                  <a:srgbClr val="202833"/>
                </a:solidFill>
                <a:latin typeface="Segoe UI"/>
              </a:rPr>
              <a:t>Jatuh Tempo &amp; ganti status oleh Manager+; Batalkan/Refund oleh Superadmin (wajib alasan).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1">
                <a:solidFill>
                  <a:srgbClr val="202833"/>
                </a:solidFill>
                <a:latin typeface="Segoe UI"/>
              </a:rPr>
              <a:t>Aksi: </a:t>
            </a:r>
            <a:r>
              <a:rPr sz="1500" b="0">
                <a:solidFill>
                  <a:srgbClr val="202833"/>
                </a:solidFill>
                <a:latin typeface="Segoe UI"/>
              </a:rPr>
              <a:t>Lihat detail, Unduh PDF, Ubah (nominal/jatuh tempo/catatan, manager+), Riwayat (dari-ke, oleh siapa, catatan).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5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500" b="1">
                <a:solidFill>
                  <a:srgbClr val="6B7480"/>
                </a:solidFill>
                <a:latin typeface="Segoe UI"/>
              </a:rPr>
              <a:t>Setiap perubahan status </a:t>
            </a:r>
            <a:r>
              <a:rPr sz="1500" b="0">
                <a:solidFill>
                  <a:srgbClr val="6B7480"/>
                </a:solidFill>
                <a:latin typeface="Segoe UI"/>
              </a:rPr>
              <a:t>selalu meninggalkan jejak di tab Riwayat.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C · Pembayaran &amp; Keuangan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C · MENU: DAFTAR ORDER → REFUND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Refund — mengembalikan uang klien (Superadmin)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3352F"/>
                </a:solidFill>
                <a:latin typeface="Segoe UI"/>
              </a:rPr>
              <a:t>Refund melekat pada ORDER, </a:t>
            </a:r>
            <a:r>
              <a:rPr sz="1400" b="0">
                <a:solidFill>
                  <a:srgbClr val="202833"/>
                </a:solidFill>
                <a:latin typeface="Segoe UI"/>
              </a:rPr>
              <a:t>bukan invoice — yang dikembalikan uang yang diterima untuk pesanan itu.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202833"/>
                </a:solidFill>
                <a:latin typeface="Segoe UI"/>
              </a:rPr>
              <a:t>Langkah: </a:t>
            </a:r>
            <a:r>
              <a:rPr sz="1400" b="0">
                <a:solidFill>
                  <a:srgbClr val="202833"/>
                </a:solidFill>
                <a:latin typeface="Segoe UI"/>
              </a:rPr>
              <a:t>Daftar Order, Refund, isi nominal, alasan, metode, rekening tujuan, Simpan.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202833"/>
                </a:solidFill>
                <a:latin typeface="Segoe UI"/>
              </a:rPr>
              <a:t>Otomatis: </a:t>
            </a:r>
            <a:r>
              <a:rPr sz="1400" b="0">
                <a:solidFill>
                  <a:srgbClr val="202833"/>
                </a:solidFill>
                <a:latin typeface="Segoe UI"/>
              </a:rPr>
              <a:t>tercatat sbg pembayaran tipe refund, jadi pengeluaran di Jurnal Kas, mengurangi uang bersih order, notifikasi; tersedia PDF bukti refund.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202833"/>
                </a:solidFill>
                <a:latin typeface="Segoe UI"/>
              </a:rPr>
              <a:t>Dua cara pandang uang: </a:t>
            </a:r>
            <a:r>
              <a:rPr sz="1400" b="0">
                <a:solidFill>
                  <a:srgbClr val="202833"/>
                </a:solidFill>
                <a:latin typeface="Segoe UI"/>
              </a:rPr>
              <a:t>Pemasukan (pelaporan, refund tak dikurangkan) vs Uang bersih (status order, dikurangi refund).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A8620A"/>
                </a:solidFill>
                <a:latin typeface="Segoe UI"/>
              </a:rPr>
              <a:t>Perbedaan ini DISENGAJA. </a:t>
            </a:r>
            <a:r>
              <a:rPr sz="1400" b="0">
                <a:solidFill>
                  <a:srgbClr val="202833"/>
                </a:solidFill>
                <a:latin typeface="Segoe UI"/>
              </a:rPr>
              <a:t>Bila angka Laporan Keuangan beda dengan sisa order yang pernah di-refund, itu benar.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C · Pembayaran &amp; Keuangan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C · MENU: LAPORAN → LAPORAN KEUANGAN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Melihat hasil: pemasukan, piutang, target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532120" cy="489204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532120" cy="82296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17904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F7A4D"/>
                </a:solidFill>
                <a:latin typeface="Segoe UI"/>
              </a:rPr>
              <a:t>Tiga laporan (PDF &amp; CSV)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38528"/>
            <a:ext cx="516636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1F7A4D"/>
                </a:solidFill>
                <a:latin typeface="Segoe UI"/>
              </a:rPr>
              <a:t>Pemasukan: </a:t>
            </a:r>
            <a:r>
              <a:rPr sz="1300" b="0">
                <a:solidFill>
                  <a:srgbClr val="202833"/>
                </a:solidFill>
                <a:latin typeface="Segoe UI"/>
              </a:rPr>
              <a:t>berapa uang masuk — semua pembayaran diterima, bisa per periode.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B5731D"/>
                </a:solidFill>
                <a:latin typeface="Segoe UI"/>
              </a:rPr>
              <a:t>Piutang: </a:t>
            </a:r>
            <a:r>
              <a:rPr sz="1300" b="0">
                <a:solidFill>
                  <a:srgbClr val="202833"/>
                </a:solidFill>
                <a:latin typeface="Segoe UI"/>
              </a:rPr>
              <a:t>siapa masih berhutang — order belum tertutup + sisa yang ditagih.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1F4E79"/>
                </a:solidFill>
                <a:latin typeface="Segoe UI"/>
              </a:rPr>
              <a:t>Order Selesai: </a:t>
            </a:r>
            <a:r>
              <a:rPr sz="1300" b="0">
                <a:solidFill>
                  <a:srgbClr val="202833"/>
                </a:solidFill>
                <a:latin typeface="Segoe UI"/>
              </a:rPr>
              <a:t>order yang sudah lunas, untuk rekap.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6B7480"/>
                </a:solidFill>
                <a:latin typeface="Segoe UI"/>
              </a:rPr>
              <a:t>Cakupan: </a:t>
            </a:r>
            <a:r>
              <a:rPr sz="1300" b="0">
                <a:solidFill>
                  <a:srgbClr val="6B7480"/>
                </a:solidFill>
                <a:latin typeface="Segoe UI"/>
              </a:rPr>
              <a:t>Marketing hanya angka order miliknya; Manager/Superadmin seluruhnya.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71600"/>
            <a:ext cx="5532120" cy="489204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371600"/>
            <a:ext cx="5532120" cy="82296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517904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6B3FA0"/>
                </a:solidFill>
                <a:latin typeface="Segoe UI"/>
              </a:rPr>
              <a:t>Target Marketing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38528"/>
            <a:ext cx="516636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6B3FA0"/>
                </a:solidFill>
                <a:latin typeface="Segoe UI"/>
              </a:rPr>
              <a:t>Manager </a:t>
            </a:r>
            <a:r>
              <a:rPr sz="1300" b="0">
                <a:solidFill>
                  <a:srgbClr val="202833"/>
                </a:solidFill>
                <a:latin typeface="Segoe UI"/>
              </a:rPr>
              <a:t>menetapkan target &amp; menandai komisi terbayar (menu Target Marketing).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B5731D"/>
                </a:solidFill>
                <a:latin typeface="Segoe UI"/>
              </a:rPr>
              <a:t>Marketing </a:t>
            </a:r>
            <a:r>
              <a:rPr sz="1300" b="0">
                <a:solidFill>
                  <a:srgbClr val="202833"/>
                </a:solidFill>
                <a:latin typeface="Segoe UI"/>
              </a:rPr>
              <a:t>melihat capaiannya sendiri (menu Target Saya).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0">
                <a:solidFill>
                  <a:srgbClr val="202833"/>
                </a:solidFill>
                <a:latin typeface="Segoe UI"/>
              </a:rPr>
              <a:t>Marketing dapat notifikasi saat target ditetapkan &amp; komisi dibayar.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6B7480"/>
                </a:solidFill>
                <a:latin typeface="Segoe UI"/>
              </a:rPr>
              <a:t>Total manager </a:t>
            </a:r>
            <a:r>
              <a:rPr sz="1300" b="0">
                <a:solidFill>
                  <a:srgbClr val="6B7480"/>
                </a:solidFill>
                <a:latin typeface="Segoe UI"/>
              </a:rPr>
              <a:t>tidak sama dengan yang dilihat satu marketing — memang seharusnya.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C · Pembayaran &amp; Keuangan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737360" cy="82296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058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DDE6F0"/>
                </a:solidFill>
                <a:latin typeface="Segoe UI"/>
              </a:rPr>
              <a:t>BAGIAN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60704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Direktori &amp; Dokumen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0584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0">
                <a:solidFill>
                  <a:srgbClr val="E7EEF6"/>
                </a:solidFill>
                <a:latin typeface="Segoe UI"/>
              </a:rPr>
              <a:t>Identitas karya yang hidup lebih panjang dari satu transaksi: Judul, info publikasi, kelengkapan berkas, Jurnal, ISBN, Author, dan Arsip.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D · MENU: DIREKTORI → DIREKTORI JUDUL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Direktori Judul — dua asal, satu daftar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1F5FBF"/>
                </a:solidFill>
                <a:latin typeface="Segoe UI"/>
              </a:rPr>
              <a:t>Asal Order: </a:t>
            </a:r>
            <a:r>
              <a:rPr sz="1400" b="0">
                <a:solidFill>
                  <a:srgbClr val="202833"/>
                </a:solidFill>
                <a:latin typeface="Segoe UI"/>
              </a:rPr>
              <a:t>terbentuk otomatis dari order; langsung Disetujui (pesanan = validasinya).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5731D"/>
                </a:solidFill>
                <a:latin typeface="Segoe UI"/>
              </a:rPr>
              <a:t>Asal Distribusi: </a:t>
            </a:r>
            <a:r>
              <a:rPr sz="1400" b="0">
                <a:solidFill>
                  <a:srgbClr val="202833"/>
                </a:solidFill>
                <a:latin typeface="Segoe UI"/>
              </a:rPr>
              <a:t>didaftarkan admin/production sebelum ada pesanan; mulai Draft, harus Diajukan lalu Disetujui.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202833"/>
                </a:solidFill>
                <a:latin typeface="Segoe UI"/>
              </a:rPr>
              <a:t>Siklus status: </a:t>
            </a:r>
            <a:r>
              <a:rPr sz="1400" b="0">
                <a:solidFill>
                  <a:srgbClr val="202833"/>
                </a:solidFill>
                <a:latin typeface="Segoe UI"/>
              </a:rPr>
              <a:t>Draft, Menunggu, Disetujui, Ditolak. Manager/Superadmin yang mengajukan langsung Disetujui.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1F7A4D"/>
                </a:solidFill>
                <a:latin typeface="Segoe UI"/>
              </a:rPr>
              <a:t>Bisa diedit </a:t>
            </a:r>
            <a:r>
              <a:rPr sz="1400" b="0">
                <a:solidFill>
                  <a:srgbClr val="202833"/>
                </a:solidFill>
                <a:latin typeface="Segoe UI"/>
              </a:rPr>
              <a:t>hanya saat Draft/Ditolak; judul disetujui terkunci agar tak berubah di tengah produksi.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202833"/>
                </a:solidFill>
                <a:latin typeface="Segoe UI"/>
              </a:rPr>
              <a:t>Isi judul: </a:t>
            </a:r>
            <a:r>
              <a:rPr sz="1400" b="0">
                <a:solidFill>
                  <a:srgbClr val="202833"/>
                </a:solidFill>
                <a:latin typeface="Segoe UI"/>
              </a:rPr>
              <a:t>nama, kode otomatis, jenis, tipe (mandiri/kolaborasi), indeksasi, bidang ilmu, marketing PJ, daftar bab (buku).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6B7480"/>
                </a:solidFill>
                <a:latin typeface="Segoe UI"/>
              </a:rPr>
              <a:t>Semua peran bisa melihat; </a:t>
            </a:r>
            <a:r>
              <a:rPr sz="1400" b="0">
                <a:solidFill>
                  <a:srgbClr val="6B7480"/>
                </a:solidFill>
                <a:latin typeface="Segoe UI"/>
              </a:rPr>
              <a:t>admin/production/manager mengelola. Tabel DataTables.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D · Direktori &amp; Dokumen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D · MENU: DIREKTORI JUDUL →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Melengkapi informasi publikasi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1F5FBF"/>
                </a:solidFill>
                <a:latin typeface="Segoe UI"/>
              </a:rPr>
              <a:t>Blok Info Publikasi </a:t>
            </a:r>
            <a:r>
              <a:rPr sz="1400" b="0">
                <a:solidFill>
                  <a:srgbClr val="202833"/>
                </a:solidFill>
                <a:latin typeface="Segoe UI"/>
              </a:rPr>
              <a:t>boleh diperbarui kapan saja (bahkan setelah judul disetujui) — isinya berkembang seiring proses.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202833"/>
                </a:solidFill>
                <a:latin typeface="Segoe UI"/>
              </a:rPr>
              <a:t>Isi (admin): </a:t>
            </a:r>
            <a:r>
              <a:rPr sz="1400" b="0">
                <a:solidFill>
                  <a:srgbClr val="202833"/>
                </a:solidFill>
                <a:latin typeface="Segoe UI"/>
              </a:rPr>
              <a:t>kode, target terbit, jurnal target, link jurnal, template, info APC, catatan.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202833"/>
                </a:solidFill>
                <a:latin typeface="Segoe UI"/>
              </a:rPr>
              <a:t>Opsi jurnal berjenjang: </a:t>
            </a:r>
            <a:r>
              <a:rPr sz="1400" b="0">
                <a:solidFill>
                  <a:srgbClr val="202833"/>
                </a:solidFill>
                <a:latin typeface="Segoe UI"/>
              </a:rPr>
              <a:t>daftarkan beberapa jurnal alternatif berurutan (pilihan 1, 2, 3) — berguna bila ditolak jurnal pertama.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202833"/>
                </a:solidFill>
                <a:latin typeface="Segoe UI"/>
              </a:rPr>
              <a:t>Bisa diambil </a:t>
            </a:r>
            <a:r>
              <a:rPr sz="1400" b="0">
                <a:solidFill>
                  <a:srgbClr val="202833"/>
                </a:solidFill>
                <a:latin typeface="Segoe UI"/>
              </a:rPr>
              <a:t>dari Direktori Jurnal (nama/link/APC ikut terisi) atau diketik manual.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202833"/>
                </a:solidFill>
                <a:latin typeface="Segoe UI"/>
              </a:rPr>
              <a:t>Penulis per bab </a:t>
            </a:r>
            <a:r>
              <a:rPr sz="1400" b="0">
                <a:solidFill>
                  <a:srgbClr val="202833"/>
                </a:solidFill>
                <a:latin typeface="Segoe UI"/>
              </a:rPr>
              <a:t>(buku kolaborasi) diatur di detail judul — siapa menulis bab berapa.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6B7480"/>
                </a:solidFill>
                <a:latin typeface="Segoe UI"/>
              </a:rPr>
              <a:t>Tiap simpan </a:t>
            </a:r>
            <a:r>
              <a:rPr sz="1400" b="0">
                <a:solidFill>
                  <a:srgbClr val="6B7480"/>
                </a:solidFill>
                <a:latin typeface="Segoe UI"/>
              </a:rPr>
              <a:t>menulis ringkasan perubahan ke riwayat judul &amp; memberi tahu superadmin.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D · Direktori &amp; Dokumen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D · MENU: DETAIL JUDUL → KELENGKAPAN DOKUMEN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Memastikan berkas klien lengkap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1F5FBF"/>
                </a:solidFill>
                <a:latin typeface="Segoe UI"/>
              </a:rPr>
              <a:t>Daftar periksa berkas </a:t>
            </a:r>
            <a:r>
              <a:rPr sz="1400" b="0">
                <a:solidFill>
                  <a:srgbClr val="202833"/>
                </a:solidFill>
                <a:latin typeface="Segoe UI"/>
              </a:rPr>
              <a:t>yang harus dikumpulkan per judul. Isi daftar disusun superadmin lewat template (bukan dipatok kode).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202833"/>
                </a:solidFill>
                <a:latin typeface="Segoe UI"/>
              </a:rPr>
              <a:t>Alur: </a:t>
            </a:r>
            <a:r>
              <a:rPr sz="1400" b="0">
                <a:solidFill>
                  <a:srgbClr val="202833"/>
                </a:solidFill>
                <a:latin typeface="Segoe UI"/>
              </a:rPr>
              <a:t>Template disusun (superadmin), ditandai per judul (admin: ada/belum), berkas diunggah + catatan, lalu Diajukan.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1F7A4D"/>
                </a:solidFill>
                <a:latin typeface="Segoe UI"/>
              </a:rPr>
              <a:t>Menyimpan ulang tanpa berkas baru </a:t>
            </a:r>
            <a:r>
              <a:rPr sz="1400" b="0">
                <a:solidFill>
                  <a:srgbClr val="202833"/>
                </a:solidFill>
                <a:latin typeface="Segoe UI"/>
              </a:rPr>
              <a:t>TIDAK menghapus berkas lama — aman untuk sekadar ubah catatan.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202833"/>
                </a:solidFill>
                <a:latin typeface="Segoe UI"/>
              </a:rPr>
              <a:t>Kemajuan </a:t>
            </a:r>
            <a:r>
              <a:rPr sz="1400" b="0">
                <a:solidFill>
                  <a:srgbClr val="202833"/>
                </a:solidFill>
                <a:latin typeface="Segoe UI"/>
              </a:rPr>
              <a:t>ditampilkan sebagai sudah/total per kategori.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A8620A"/>
                </a:solidFill>
                <a:latin typeface="Segoe UI"/>
              </a:rPr>
              <a:t>Manager sengaja tak diberi akses </a:t>
            </a:r>
            <a:r>
              <a:rPr sz="1400" b="0">
                <a:solidFill>
                  <a:srgbClr val="202833"/>
                </a:solidFill>
                <a:latin typeface="Segoe UI"/>
              </a:rPr>
              <a:t>halaman ini — pekerjaan administratif, bukan pengawasan.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D · Direktori &amp; Dokumen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21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D · MENU: DIREKTORI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Tiga direktori pendukung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6B3FA0"/>
                </a:solidFill>
                <a:latin typeface="Segoe UI"/>
              </a:rPr>
              <a:t>Direktori Jurnal: </a:t>
            </a:r>
            <a:r>
              <a:rPr sz="1300" b="0">
                <a:solidFill>
                  <a:srgbClr val="202833"/>
                </a:solidFill>
                <a:latin typeface="Segoe UI"/>
              </a:rPr>
              <a:t>katalog jurnal tujuan (nama, link, penerbit, indeksasi, APC) + riwayat submission naskah ke jurnal. Semua peran lihat; admin/manager kelola.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B5731D"/>
                </a:solidFill>
                <a:latin typeface="Segoe UI"/>
              </a:rPr>
              <a:t>Direktori Author: </a:t>
            </a:r>
            <a:r>
              <a:rPr sz="1300" b="0">
                <a:solidFill>
                  <a:srgbClr val="202833"/>
                </a:solidFill>
                <a:latin typeface="Segoe UI"/>
              </a:rPr>
              <a:t>daftar penulis, terisi otomatis dari order; detail menampilkan riwayat order penulis; baca-saja. Production &amp; accounting TIDAK diberi akses.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0F6D70"/>
                </a:solidFill>
                <a:latin typeface="Segoe UI"/>
              </a:rPr>
              <a:t>Direktori ISBN: </a:t>
            </a:r>
            <a:r>
              <a:rPr sz="1300" b="0">
                <a:solidFill>
                  <a:srgbClr val="202833"/>
                </a:solidFill>
                <a:latin typeface="Segoe UI"/>
              </a:rPr>
              <a:t>registri pengurusan ISBN buku — status Pendaftaran, Ber-ISBN, Cetak/Terbit; nomor &amp; tanggal. Hanya buku yang naskahnya sudah mencapai tahap ISBN. Dikelola production &amp; admin.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6B7480"/>
                </a:solidFill>
                <a:latin typeface="Segoe UI"/>
              </a:rPr>
              <a:t>Kenapa penting: </a:t>
            </a:r>
            <a:r>
              <a:rPr sz="1300" b="0">
                <a:solidFill>
                  <a:srgbClr val="6B7480"/>
                </a:solidFill>
                <a:latin typeface="Segoe UI"/>
              </a:rPr>
              <a:t>mengetik nama jurnal/bidang ilmu baru otomatis tersimpan untuk dipakai lagi — konsistensi bikin laporan bisa dipercaya.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D · Direktori &amp; Dokumen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22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D · MENU: DIREKTORI → ARSIP JUDUL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Arsip Judul — dua syarat &amp; artefak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1F7A4D"/>
                </a:solidFill>
                <a:latin typeface="Segoe UI"/>
              </a:rPr>
              <a:t>Syarat 1 — Lunas: </a:t>
            </a:r>
            <a:r>
              <a:rPr sz="1300" b="0">
                <a:solidFill>
                  <a:srgbClr val="202833"/>
                </a:solidFill>
                <a:latin typeface="Segoe UI"/>
              </a:rPr>
              <a:t>SELURUH order judul sudah lunas (pakai uang bersih, sudah dikurangi refund).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0F6D70"/>
                </a:solidFill>
                <a:latin typeface="Segoe UI"/>
              </a:rPr>
              <a:t>Syarat 2 — Naskah final: </a:t>
            </a:r>
            <a:r>
              <a:rPr sz="1300" b="0">
                <a:solidFill>
                  <a:srgbClr val="202833"/>
                </a:solidFill>
                <a:latin typeface="Segoe UI"/>
              </a:rPr>
              <a:t>tahap mencapai Terbit (buku) / Publish (artikel). Semua bab final, bukan sebagian.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202833"/>
                </a:solidFill>
                <a:latin typeface="Segoe UI"/>
              </a:rPr>
              <a:t>Artefak Buku (6): </a:t>
            </a:r>
            <a:r>
              <a:rPr sz="1300" b="0">
                <a:solidFill>
                  <a:srgbClr val="202833"/>
                </a:solidFill>
                <a:latin typeface="Segoe UI"/>
              </a:rPr>
              <a:t>No. ISBN, File Barcode, Link Publish, Link Scholar, File HKI, File Buku Final.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202833"/>
                </a:solidFill>
                <a:latin typeface="Segoe UI"/>
              </a:rPr>
              <a:t>Artefak Artikel (4): </a:t>
            </a:r>
            <a:r>
              <a:rPr sz="1300" b="0">
                <a:solidFill>
                  <a:srgbClr val="202833"/>
                </a:solidFill>
                <a:latin typeface="Segoe UI"/>
              </a:rPr>
              <a:t>LoA, Link Publish, Naskah Final, Bukti Bayar APC.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202833"/>
                </a:solidFill>
                <a:latin typeface="Segoe UI"/>
              </a:rPr>
              <a:t>Alur: </a:t>
            </a:r>
            <a:r>
              <a:rPr sz="1300" b="0">
                <a:solidFill>
                  <a:srgbClr val="202833"/>
                </a:solidFill>
                <a:latin typeface="Segoe UI"/>
              </a:rPr>
              <a:t>Draft (isi bertahap), Diajukan (production/admin), Ditinjau, Disetujui/Ditolak (manager/superadmin). Hasil: Lembar Arsip PDF permanen.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6B7480"/>
                </a:solidFill>
                <a:latin typeface="Segoe UI"/>
              </a:rPr>
              <a:t>Semua peran bisa melihat arsip; </a:t>
            </a:r>
            <a:r>
              <a:rPr sz="1300" b="0">
                <a:solidFill>
                  <a:srgbClr val="6B7480"/>
                </a:solidFill>
                <a:latin typeface="Segoe UI"/>
              </a:rPr>
              <a:t>yang dibatasi hanya mengisi &amp; menyetujui.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D · Direktori &amp; Dokumen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23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737360" cy="82296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058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DDE6F0"/>
                </a:solidFill>
                <a:latin typeface="Segoe UI"/>
              </a:rPr>
              <a:t>BAGIAN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60704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Produksi Naskah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0584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0">
                <a:solidFill>
                  <a:srgbClr val="E7EEF6"/>
                </a:solidFill>
                <a:latin typeface="Segoe UI"/>
              </a:rPr>
              <a:t>Inti pekerjaan penerbitan. PENTING: sejak pembaruan, Pelacakan Naskah kini hanya untuk MEMANTAU; semua kontrol pindah ke Distribusi Artikel &amp; Distribusi Buku.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E · MENU: PRODUKSI → PELACAK NASKAH / MEJA KERJA SAYA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Pelacakan Naskah — MONITOR (read-only)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0F6D70"/>
                </a:solidFill>
                <a:latin typeface="Segoe UI"/>
              </a:rPr>
              <a:t>Fungsi kini: </a:t>
            </a:r>
            <a:r>
              <a:rPr sz="1400" b="0">
                <a:solidFill>
                  <a:srgbClr val="202833"/>
                </a:solidFill>
                <a:latin typeface="Segoe UI"/>
              </a:rPr>
              <a:t>HANYA memantau — judul ada di tahap mana, siapa editornya, target kapan, penanda telat. TANPA tombol aksi.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202833"/>
                </a:solidFill>
                <a:latin typeface="Segoe UI"/>
              </a:rPr>
              <a:t>Nama menu adaptif: </a:t>
            </a:r>
            <a:r>
              <a:rPr sz="1400" b="0">
                <a:solidFill>
                  <a:srgbClr val="202833"/>
                </a:solidFill>
                <a:latin typeface="Segoe UI"/>
              </a:rPr>
              <a:t>Production melihat 'Meja Kerja Saya'; Manager/Superadmin melihat 'Pelacak Naskah'.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202833"/>
                </a:solidFill>
                <a:latin typeface="Segoe UI"/>
              </a:rPr>
              <a:t>Filter tetap: </a:t>
            </a:r>
            <a:r>
              <a:rPr sz="1400" b="0">
                <a:solidFill>
                  <a:srgbClr val="202833"/>
                </a:solidFill>
                <a:latin typeface="Segoe UI"/>
              </a:rPr>
              <a:t>tipe (buku/artikel), scope (saya/semua), editor, prioritas, telat, + tampilan Log aktivitas.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6B7480"/>
                </a:solidFill>
                <a:latin typeface="Segoe UI"/>
              </a:rPr>
              <a:t>Naskah final </a:t>
            </a:r>
            <a:r>
              <a:rPr sz="1400" b="0">
                <a:solidFill>
                  <a:srgbClr val="6B7480"/>
                </a:solidFill>
                <a:latin typeface="Segoe UI"/>
              </a:rPr>
              <a:t>(Terbit/Publish) tampil sebentar sebagai konfirmasi lalu hilang dari papan aktif; datanya tetap utuh di Direktori &amp; Arsip.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A8620A"/>
                </a:solidFill>
                <a:latin typeface="Segoe UI"/>
              </a:rPr>
              <a:t>Untuk MENGUBAH </a:t>
            </a:r>
            <a:r>
              <a:rPr sz="1400" b="0">
                <a:solidFill>
                  <a:srgbClr val="202833"/>
                </a:solidFill>
                <a:latin typeface="Segoe UI"/>
              </a:rPr>
              <a:t>(editor, tahap, upload, prioritas, target) — buka menu Distribusi Artikel / Distribusi Buku.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E · Produksi Naskah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24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E · MENU: PRODUKSI → DISTRIBUSI ARTIKEL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Distribusi Artikel — 1 editor per judul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6B3FA0"/>
                </a:solidFill>
                <a:latin typeface="Segoe UI"/>
              </a:rPr>
              <a:t>Index: </a:t>
            </a:r>
            <a:r>
              <a:rPr sz="1400" b="0">
                <a:solidFill>
                  <a:srgbClr val="202833"/>
                </a:solidFill>
                <a:latin typeface="Segoe UI"/>
              </a:rPr>
              <a:t>tabel DataTables (Kode, Judul, Indeksasi, Status, Editor). Klik Distribusi untuk detail.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202833"/>
                </a:solidFill>
                <a:latin typeface="Segoe UI"/>
              </a:rPr>
              <a:t>Detail — Kontrol Naskah: </a:t>
            </a:r>
            <a:r>
              <a:rPr sz="1400" b="0">
                <a:solidFill>
                  <a:srgbClr val="202833"/>
                </a:solidFill>
                <a:latin typeface="Segoe UI"/>
              </a:rPr>
              <a:t>Editor/PIC (1 untuk seluruh judul), Ubah Tahap, Target Publish, File Naskah (2 slot).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202833"/>
                </a:solidFill>
                <a:latin typeface="Segoe UI"/>
              </a:rPr>
              <a:t>Ubah tahap </a:t>
            </a:r>
            <a:r>
              <a:rPr sz="1400" b="0">
                <a:solidFill>
                  <a:srgbClr val="202833"/>
                </a:solidFill>
                <a:latin typeface="Segoe UI"/>
              </a:rPr>
              <a:t>mengikuti rel artikel (Menunggu Proses menuju Templating menuju Editing menuju Revisi menuju Submit menuju LoA menuju Publish).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202833"/>
                </a:solidFill>
                <a:latin typeface="Segoe UI"/>
              </a:rPr>
              <a:t>Editor bisa dipilih: </a:t>
            </a:r>
            <a:r>
              <a:rPr sz="1400" b="0">
                <a:solidFill>
                  <a:srgbClr val="202833"/>
                </a:solidFill>
                <a:latin typeface="Segoe UI"/>
              </a:rPr>
              <a:t>pengguna berperan production, manager, atau admin.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6B7480"/>
                </a:solidFill>
                <a:latin typeface="Segoe UI"/>
              </a:rPr>
              <a:t>Siapa: </a:t>
            </a:r>
            <a:r>
              <a:rPr sz="1400" b="0">
                <a:solidFill>
                  <a:srgbClr val="6B7480"/>
                </a:solidFill>
                <a:latin typeface="Segoe UI"/>
              </a:rPr>
              <a:t>superadmin, manager, admin, production. Marketing tak punya menu ini (hanya papan read-only order sendiri).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E · Produksi Naskah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25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E · MENU: PRODUKSI → DISTRIBUSI BUKU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Distribusi Buku — per-bab + pintasan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0F6D70"/>
                </a:solidFill>
                <a:latin typeface="Segoe UI"/>
              </a:rPr>
              <a:t>Index: </a:t>
            </a:r>
            <a:r>
              <a:rPr sz="1400" b="0">
                <a:solidFill>
                  <a:srgbClr val="202833"/>
                </a:solidFill>
                <a:latin typeface="Segoe UI"/>
              </a:rPr>
              <a:t>tabel DataTables (Kode, Judul, Jenis Mandiri/Kolaborasi, Status bab paling lambat).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202833"/>
                </a:solidFill>
                <a:latin typeface="Segoe UI"/>
              </a:rPr>
              <a:t>Detail — Grid per bab: </a:t>
            </a:r>
            <a:r>
              <a:rPr sz="1400" b="0">
                <a:solidFill>
                  <a:srgbClr val="202833"/>
                </a:solidFill>
                <a:latin typeface="Segoe UI"/>
              </a:rPr>
              <a:t>tiap bab punya editor sendiri, tahap sendiri, author bab, dan file naskah sendiri.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1F7A4D"/>
                </a:solidFill>
                <a:latin typeface="Segoe UI"/>
              </a:rPr>
              <a:t>Pintasan seluruh buku: </a:t>
            </a:r>
            <a:r>
              <a:rPr sz="1400" b="0">
                <a:solidFill>
                  <a:srgbClr val="202833"/>
                </a:solidFill>
                <a:latin typeface="Segoe UI"/>
              </a:rPr>
              <a:t>'Terapkan 1 editor ke semua bab' + upload 1 file level-buku + target terbit. Untuk kasus sederhana tetap cepat.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A8620A"/>
                </a:solidFill>
                <a:latin typeface="Segoe UI"/>
              </a:rPr>
              <a:t>Aturan bab paling lambat: </a:t>
            </a:r>
            <a:r>
              <a:rPr sz="1400" b="0">
                <a:solidFill>
                  <a:srgbClr val="202833"/>
                </a:solidFill>
                <a:latin typeface="Segoe UI"/>
              </a:rPr>
              <a:t>status buku = bab paling tertinggal (yang menghambat), bukan yang paling maju.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202833"/>
                </a:solidFill>
                <a:latin typeface="Segoe UI"/>
              </a:rPr>
              <a:t>Registrasi ISBN </a:t>
            </a:r>
            <a:r>
              <a:rPr sz="1400" b="0">
                <a:solidFill>
                  <a:srgbClr val="202833"/>
                </a:solidFill>
                <a:latin typeface="Segoe UI"/>
              </a:rPr>
              <a:t>otomatis memajukan tahap buku &amp; semua babnya (maju-saja); tercatat 'Sinkron otomatis dari registrasi ISBN'.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E · Produksi Naskah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E · KONTROL NASKAH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Upload file naskah — 2 slot ber-versi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202833"/>
                </a:solidFill>
                <a:latin typeface="Segoe UI"/>
              </a:rPr>
              <a:t>Dua slot per unit: </a:t>
            </a:r>
            <a:r>
              <a:rPr sz="1400" b="0">
                <a:solidFill>
                  <a:srgbClr val="202833"/>
                </a:solidFill>
                <a:latin typeface="Segoe UI"/>
              </a:rPr>
              <a:t>Naskah Masuk (bahan mentah dari customer) &amp; Naskah Final (hasil olah editor).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6B3FA0"/>
                </a:solidFill>
                <a:latin typeface="Segoe UI"/>
              </a:rPr>
              <a:t>Artikel: </a:t>
            </a:r>
            <a:r>
              <a:rPr sz="1400" b="0">
                <a:solidFill>
                  <a:srgbClr val="202833"/>
                </a:solidFill>
                <a:latin typeface="Segoe UI"/>
              </a:rPr>
              <a:t>file di level judul. Buku: file per-bab ATAU 1 file level-buku (via pintasan).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1F7A4D"/>
                </a:solidFill>
                <a:latin typeface="Segoe UI"/>
              </a:rPr>
              <a:t>Ber-versi: </a:t>
            </a:r>
            <a:r>
              <a:rPr sz="1400" b="0">
                <a:solidFill>
                  <a:srgbClr val="202833"/>
                </a:solidFill>
                <a:latin typeface="Segoe UI"/>
              </a:rPr>
              <a:t>upload ulang = versi baru; versi lama tetap tersimpan &amp; bisa dibuka (riwayat versi).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202833"/>
                </a:solidFill>
                <a:latin typeface="Segoe UI"/>
              </a:rPr>
              <a:t>Format: </a:t>
            </a:r>
            <a:r>
              <a:rPr sz="1400" b="0">
                <a:solidFill>
                  <a:srgbClr val="202833"/>
                </a:solidFill>
                <a:latin typeface="Segoe UI"/>
              </a:rPr>
              <a:t>PDF/DOC/DOCX/ZIP, maks 20 MB. Tersimpan di Google Drive.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A8620A"/>
                </a:solidFill>
                <a:latin typeface="Segoe UI"/>
              </a:rPr>
              <a:t>Judul belum tertaut? </a:t>
            </a:r>
            <a:r>
              <a:rPr sz="1400" b="0">
                <a:solidFill>
                  <a:srgbClr val="202833"/>
                </a:solidFill>
                <a:latin typeface="Segoe UI"/>
              </a:rPr>
              <a:t>upload tak tersedia untuk detail lama tanpa title_id (edge case data lama).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E · Produksi Naskah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27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E · ATURAN PINDAH TAHAP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Siapa boleh memindahkan tahap apa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9933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6949440"/>
                <a:gridCol w="2743200"/>
              </a:tblGrid>
              <a:tr h="39867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Pelaku</a:t>
                      </a:r>
                    </a:p>
                  </a:txBody>
                  <a:tcPr marL="76200" marR="76200" marT="38100" marB="3810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Boleh memindahkan</a:t>
                      </a:r>
                    </a:p>
                  </a:txBody>
                  <a:tcPr marL="76200" marR="76200" marT="38100" marB="3810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Batasan</a:t>
                      </a:r>
                    </a:p>
                  </a:txBody>
                  <a:tcPr marL="76200" marR="76200" marT="38100" marB="38100">
                    <a:solidFill>
                      <a:srgbClr val="1F4E79"/>
                    </a:solidFill>
                  </a:tcPr>
                </a:tc>
              </a:tr>
              <a:tr h="39867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F6D70"/>
                          </a:solidFill>
                          <a:latin typeface="Segoe UI"/>
                        </a:rPr>
                        <a:t>Production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833"/>
                          </a:solidFill>
                          <a:latin typeface="Segoe UI"/>
                        </a:rPr>
                        <a:t>Tahap ber-handler production (Templating, Editing, Revisi, Submit, Layout, Proofreading, ISBN)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833"/>
                          </a:solidFill>
                          <a:latin typeface="Segoe UI"/>
                        </a:rPr>
                        <a:t>Tak bisa tahap superadmin (Cetak/Terbit/LoA/Publish)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39867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5FBF"/>
                          </a:solidFill>
                          <a:latin typeface="Segoe UI"/>
                        </a:rPr>
                        <a:t>Admin</a:t>
                      </a:r>
                    </a:p>
                  </a:txBody>
                  <a:tcPr marL="76200" marR="76200" marT="38100" marB="38100">
                    <a:solidFill>
                      <a:srgbClr val="F3F0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833"/>
                          </a:solidFill>
                          <a:latin typeface="Segoe UI"/>
                        </a:rPr>
                        <a:t>Sama seperti production (setara)</a:t>
                      </a:r>
                    </a:p>
                  </a:txBody>
                  <a:tcPr marL="76200" marR="76200" marT="38100" marB="38100">
                    <a:solidFill>
                      <a:srgbClr val="F3F0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833"/>
                          </a:solidFill>
                          <a:latin typeface="Segoe UI"/>
                        </a:rPr>
                        <a:t>Sama seperti production</a:t>
                      </a:r>
                    </a:p>
                  </a:txBody>
                  <a:tcPr marL="76200" marR="76200" marT="38100" marB="38100">
                    <a:solidFill>
                      <a:srgbClr val="F3F0EA"/>
                    </a:solidFill>
                  </a:tcPr>
                </a:tc>
              </a:tr>
              <a:tr h="39867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6B3FA0"/>
                          </a:solidFill>
                          <a:latin typeface="Segoe UI"/>
                        </a:rPr>
                        <a:t>Manager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833"/>
                          </a:solidFill>
                          <a:latin typeface="Segoe UI"/>
                        </a:rPr>
                        <a:t>Semua tahap non-final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833"/>
                          </a:solidFill>
                          <a:latin typeface="Segoe UI"/>
                        </a:rPr>
                        <a:t>Naskah final terkunci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39867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B3352F"/>
                          </a:solidFill>
                          <a:latin typeface="Segoe UI"/>
                        </a:rPr>
                        <a:t>Superadmin</a:t>
                      </a:r>
                    </a:p>
                  </a:txBody>
                  <a:tcPr marL="76200" marR="76200" marT="38100" marB="38100">
                    <a:solidFill>
                      <a:srgbClr val="F3F0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833"/>
                          </a:solidFill>
                          <a:latin typeface="Segoe UI"/>
                        </a:rPr>
                        <a:t>Semua tahap termasuk final</a:t>
                      </a:r>
                    </a:p>
                  </a:txBody>
                  <a:tcPr marL="76200" marR="76200" marT="38100" marB="38100">
                    <a:solidFill>
                      <a:srgbClr val="F3F0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833"/>
                          </a:solidFill>
                          <a:latin typeface="Segoe UI"/>
                        </a:rPr>
                        <a:t>Tanpa batasan</a:t>
                      </a:r>
                    </a:p>
                  </a:txBody>
                  <a:tcPr marL="76200" marR="76200" marT="38100" marB="38100">
                    <a:solidFill>
                      <a:srgbClr val="F3F0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E · Produksi Naskah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28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E · ATURAN PINDAH TAHAP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Maju normal vs koreksi (+ approval dimatikan)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1F7A4D"/>
                </a:solidFill>
                <a:latin typeface="Segoe UI"/>
              </a:rPr>
              <a:t>Maju normal: </a:t>
            </a:r>
            <a:r>
              <a:rPr sz="1400" b="0">
                <a:solidFill>
                  <a:srgbClr val="202833"/>
                </a:solidFill>
                <a:latin typeface="Segoe UI"/>
              </a:rPr>
              <a:t>ke tahap tepat berikutnya. Catatan tidak wajib.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3352F"/>
                </a:solidFill>
                <a:latin typeface="Segoe UI"/>
              </a:rPr>
              <a:t>Koreksi/lompat: </a:t>
            </a:r>
            <a:r>
              <a:rPr sz="1400" b="0">
                <a:solidFill>
                  <a:srgbClr val="202833"/>
                </a:solidFill>
                <a:latin typeface="Segoe UI"/>
              </a:rPr>
              <a:t>mundur atau melompati tahap. Catatan WAJIB diisi (sistem menolak bila kosong).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A8620A"/>
                </a:solidFill>
                <a:latin typeface="Segoe UI"/>
              </a:rPr>
              <a:t>Naskah final terkunci </a:t>
            </a:r>
            <a:r>
              <a:rPr sz="1400" b="0">
                <a:solidFill>
                  <a:srgbClr val="202833"/>
                </a:solidFill>
                <a:latin typeface="Segoe UI"/>
              </a:rPr>
              <a:t>untuk semua kecuali superadmin. Bila judul salah ditandai Terbit, minta superadmin mengoreksi — jangan buat order/judul baru sebagai jalan pintas.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202833"/>
                </a:solidFill>
                <a:latin typeface="Segoe UI"/>
              </a:rPr>
              <a:t>Alur persetujuan/tinjau DIMATIKAN: </a:t>
            </a:r>
            <a:r>
              <a:rPr sz="1400" b="0">
                <a:solidFill>
                  <a:srgbClr val="202833"/>
                </a:solidFill>
                <a:latin typeface="Segoe UI"/>
              </a:rPr>
              <a:t>setiap perubahan hanya menulis LOG + kirim notifikasi ke superadmin, manager, admin, production (dan marketing pemilik saat tahap berubah).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6B7480"/>
                </a:solidFill>
                <a:latin typeface="Segoe UI"/>
              </a:rPr>
              <a:t>Progres per bab (buku) </a:t>
            </a:r>
            <a:r>
              <a:rPr sz="1400" b="0">
                <a:solidFill>
                  <a:srgbClr val="6B7480"/>
                </a:solidFill>
                <a:latin typeface="Segoe UI"/>
              </a:rPr>
              <a:t>tunduk aturan yang sama; koreksi bab wajib beralasan, bab final terkunci.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E · Produksi Naskah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29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737360" cy="82296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058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DDE6F0"/>
                </a:solidFill>
                <a:latin typeface="Segoe UI"/>
              </a:rPr>
              <a:t>BAGIAN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60704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Akuntansi (Keuangan)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0584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0">
                <a:solidFill>
                  <a:srgbClr val="E7EEF6"/>
                </a:solidFill>
                <a:latin typeface="Segoe UI"/>
              </a:rPr>
              <a:t>Delapan halaman dari 'uang masuk-keluar hari ini apa saja' sampai 'berapa laba yang layak dibagi'. Hak akses: Accounting &amp; Superadmin (Manager sengaja tidak).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F · MENU: KEUANGAN → JURNAL KAS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Jurnal Kas — buku besar uang masuk &amp; keluar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1F7A4D"/>
                </a:solidFill>
                <a:latin typeface="Segoe UI"/>
              </a:rPr>
              <a:t>Terisi otomatis: </a:t>
            </a:r>
            <a:r>
              <a:rPr sz="1400" b="0">
                <a:solidFill>
                  <a:srgbClr val="202833"/>
                </a:solidFill>
                <a:latin typeface="Segoe UI"/>
              </a:rPr>
              <a:t>tiap pembayaran menjadi entri pemasukan; tiap refund menjadi pengeluaran; kategori sesuai tipe produk. Bila pembayaran diubah/batal, entri kas ikut menyesuaikan (tak kembar).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5731D"/>
                </a:solidFill>
                <a:latin typeface="Segoe UI"/>
              </a:rPr>
              <a:t>Dicatat manual (accounting): </a:t>
            </a:r>
            <a:r>
              <a:rPr sz="1400" b="0">
                <a:solidFill>
                  <a:srgbClr val="202833"/>
                </a:solidFill>
                <a:latin typeface="Segoe UI"/>
              </a:rPr>
              <a:t>seluruh pengeluaran operasional (gaji, sewa, listrik, cetak, honor), pemasukan di luar order, transfer antar akun.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A8620A"/>
                </a:solidFill>
                <a:latin typeface="Segoe UI"/>
              </a:rPr>
              <a:t>Transfer antar akun </a:t>
            </a:r>
            <a:r>
              <a:rPr sz="1400" b="0">
                <a:solidFill>
                  <a:srgbClr val="202833"/>
                </a:solidFill>
                <a:latin typeface="Segoe UI"/>
              </a:rPr>
              <a:t>TIDAK dihitung sebagai pemasukan/pengeluaran laba — uang hanya pindah tempat.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202833"/>
                </a:solidFill>
                <a:latin typeface="Segoe UI"/>
              </a:rPr>
              <a:t>Multi-akun: </a:t>
            </a:r>
            <a:r>
              <a:rPr sz="1400" b="0">
                <a:solidFill>
                  <a:srgbClr val="202833"/>
                </a:solidFill>
                <a:latin typeface="Segoe UI"/>
              </a:rPr>
              <a:t>kas dipecah per rekening/dompet, masing-masing saldo sendiri. Kategori dikelola accounting.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6B7480"/>
                </a:solidFill>
                <a:latin typeface="Segoe UI"/>
              </a:rPr>
              <a:t>Ekspor: </a:t>
            </a:r>
            <a:r>
              <a:rPr sz="1400" b="0">
                <a:solidFill>
                  <a:srgbClr val="6B7480"/>
                </a:solidFill>
                <a:latin typeface="Segoe UI"/>
              </a:rPr>
              <a:t>seluruh jurnal bisa diunduh CSV atau PDF.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F · Akuntansi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30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F · MENU: KEUANGAN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Delapan halaman &amp; tugasnya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1F4E79"/>
                </a:solidFill>
                <a:latin typeface="Segoe UI"/>
              </a:rPr>
              <a:t>1. Ringkasan </a:t>
            </a:r>
            <a:r>
              <a:rPr sz="1300" b="0">
                <a:solidFill>
                  <a:srgbClr val="202833"/>
                </a:solidFill>
                <a:latin typeface="Segoe UI"/>
              </a:rPr>
              <a:t>— pembuka keuangan, posisi kas &amp; sorotan.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1F7A4D"/>
                </a:solidFill>
                <a:latin typeface="Segoe UI"/>
              </a:rPr>
              <a:t>2. Jurnal Kas </a:t>
            </a:r>
            <a:r>
              <a:rPr sz="1300" b="0">
                <a:solidFill>
                  <a:srgbClr val="202833"/>
                </a:solidFill>
                <a:latin typeface="Segoe UI"/>
              </a:rPr>
              <a:t>— buku besar transaksi.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1F4E79"/>
                </a:solidFill>
                <a:latin typeface="Segoe UI"/>
              </a:rPr>
              <a:t>3. Dashboard Keuangan </a:t>
            </a:r>
            <a:r>
              <a:rPr sz="1300" b="0">
                <a:solidFill>
                  <a:srgbClr val="202833"/>
                </a:solidFill>
                <a:latin typeface="Segoe UI"/>
              </a:rPr>
              <a:t>— rekap per bulan &amp; kategori + grafik (ekspor CSV/PDF).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6B3FA0"/>
                </a:solidFill>
                <a:latin typeface="Segoe UI"/>
              </a:rPr>
              <a:t>4. Distribusi Profit </a:t>
            </a:r>
            <a:r>
              <a:rPr sz="1300" b="0">
                <a:solidFill>
                  <a:srgbClr val="202833"/>
                </a:solidFill>
                <a:latin typeface="Segoe UI"/>
              </a:rPr>
              <a:t>— aturan pembagian laba fleksibel (siapa berapa persen/nominal).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B5731D"/>
                </a:solidFill>
                <a:latin typeface="Segoe UI"/>
              </a:rPr>
              <a:t>5. Asumsi </a:t>
            </a:r>
            <a:r>
              <a:rPr sz="1300" b="0">
                <a:solidFill>
                  <a:srgbClr val="202833"/>
                </a:solidFill>
                <a:latin typeface="Segoe UI"/>
              </a:rPr>
              <a:t>— margin per produk &amp; pengeluaran tetap bulanan (untuk perkiraan).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B5731D"/>
                </a:solidFill>
                <a:latin typeface="Segoe UI"/>
              </a:rPr>
              <a:t>6. Anggaran &amp; Target </a:t>
            </a:r>
            <a:r>
              <a:rPr sz="1300" b="0">
                <a:solidFill>
                  <a:srgbClr val="202833"/>
                </a:solidFill>
                <a:latin typeface="Segoe UI"/>
              </a:rPr>
              <a:t>— target pemasukan &amp; batas anggaran, pantau capaian.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0F6D70"/>
                </a:solidFill>
                <a:latin typeface="Segoe UI"/>
              </a:rPr>
              <a:t>7. Analisa Profit </a:t>
            </a:r>
            <a:r>
              <a:rPr sz="1300" b="0">
                <a:solidFill>
                  <a:srgbClr val="202833"/>
                </a:solidFill>
                <a:latin typeface="Segoe UI"/>
              </a:rPr>
              <a:t>— perkiraan laba berbasis margin asumsi.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B3352F"/>
                </a:solidFill>
                <a:latin typeface="Segoe UI"/>
              </a:rPr>
              <a:t>8. Riwayat Perubahan </a:t>
            </a:r>
            <a:r>
              <a:rPr sz="1300" b="0">
                <a:solidFill>
                  <a:srgbClr val="202833"/>
                </a:solidFill>
                <a:latin typeface="Segoe UI"/>
              </a:rPr>
              <a:t>— jejak audit entri kas (siapa/kapan/dari-ke berapa).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F · Akuntansi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31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F · TATA KELOLA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Kunci Periode, Audit &amp; catatan Asumsi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3352F"/>
                </a:solidFill>
                <a:latin typeface="Segoe UI"/>
              </a:rPr>
              <a:t>Kunci Periode </a:t>
            </a:r>
            <a:r>
              <a:rPr sz="1400" b="0">
                <a:solidFill>
                  <a:srgbClr val="202833"/>
                </a:solidFill>
                <a:latin typeface="Segoe UI"/>
              </a:rPr>
              <a:t>(superadmin saja): setelah pembukuan bulan dilaporkan, periode dikunci — entri tak bisa diubah/dihapus. Bisa dibuka lagi bila perlu koreksi.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1F4E79"/>
                </a:solidFill>
                <a:latin typeface="Segoe UI"/>
              </a:rPr>
              <a:t>Riwayat Perubahan: </a:t>
            </a:r>
            <a:r>
              <a:rPr sz="1400" b="0">
                <a:solidFill>
                  <a:srgbClr val="202833"/>
                </a:solidFill>
                <a:latin typeface="Segoe UI"/>
              </a:rPr>
              <a:t>setiap perubahan entri kas tercatat (siapa, kapan, dari nilai berapa ke berapa) — tempat pertama mencari selisih.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A8620A"/>
                </a:solidFill>
                <a:latin typeface="Segoe UI"/>
              </a:rPr>
              <a:t>Asumsi bukan catatan nyata: </a:t>
            </a:r>
            <a:r>
              <a:rPr sz="1400" b="0">
                <a:solidFill>
                  <a:srgbClr val="202833"/>
                </a:solidFill>
                <a:latin typeface="Segoe UI"/>
              </a:rPr>
              <a:t>Asumsi &amp; Analisa Profit memakai PERKIRAAN margin, bukan kas sesungguhnya — alat bantu keputusan. Pengeluaran tetap harus dicatat sebagai entri nyata.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6B7480"/>
                </a:solidFill>
                <a:latin typeface="Segoe UI"/>
              </a:rPr>
              <a:t>Batasan jujur kunci periode: </a:t>
            </a:r>
            <a:r>
              <a:rPr sz="1400" b="0">
                <a:solidFill>
                  <a:srgbClr val="6B7480"/>
                </a:solidFill>
                <a:latin typeface="Segoe UI"/>
              </a:rPr>
              <a:t>jalur otomatis (pembayaran disetujui belakangan untuk tanggal lama) masih bisa menyentuh periode terkunci — tutup periode setelah tak ada setoran tertunggak.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F · Akuntansi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32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737360" cy="82296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058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DDE6F0"/>
                </a:solidFill>
                <a:latin typeface="Segoe UI"/>
              </a:rPr>
              <a:t>BAGIAN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60704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Slip Gaji &amp; Alat Kerja Harian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0584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0">
                <a:solidFill>
                  <a:srgbClr val="E7EEF6"/>
                </a:solidFill>
                <a:latin typeface="Segoe UI"/>
              </a:rPr>
              <a:t>Modul yang dipakai lintas peran setiap hari: Slip Gaji, Tugas, Laporan Harian, Gudang Data, Pengumuman &amp; Notifikasi.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G · MENU: SLIP GAJI / SLIP GAJI SAYA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Slip Gaji — dua sisi, dua menu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532120" cy="489204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532120" cy="82296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17904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F7A4D"/>
                </a:solidFill>
                <a:latin typeface="Segoe UI"/>
              </a:rPr>
              <a:t>Slip Gaji (accounting/superadmin)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38528"/>
            <a:ext cx="516636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0">
                <a:solidFill>
                  <a:srgbClr val="202833"/>
                </a:solidFill>
                <a:latin typeface="Segoe UI"/>
              </a:rPr>
              <a:t>Buat slip: pilih karyawan &amp; periode (bulan/tahun).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0">
                <a:solidFill>
                  <a:srgbClr val="202833"/>
                </a:solidFill>
                <a:latin typeface="Segoe UI"/>
              </a:rPr>
              <a:t>Isi pendapatan (gaji pokok, tunjangan, bonus) &amp; potongan.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0">
                <a:solidFill>
                  <a:srgbClr val="202833"/>
                </a:solidFill>
                <a:latin typeface="Segoe UI"/>
              </a:rPr>
              <a:t>Total &amp; gaji bersih dihitung otomatis. Simpan Draft, ubah ke Terbit.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1F7A4D"/>
                </a:solidFill>
                <a:latin typeface="Segoe UI"/>
              </a:rPr>
              <a:t>Kirim: </a:t>
            </a:r>
            <a:r>
              <a:rPr sz="1300" b="0">
                <a:solidFill>
                  <a:srgbClr val="202833"/>
                </a:solidFill>
                <a:latin typeface="Segoe UI"/>
              </a:rPr>
              <a:t>PDF ke email karyawan lewat antrean + notifikasi.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A8620A"/>
                </a:solidFill>
                <a:latin typeface="Segoe UI"/>
              </a:rPr>
              <a:t>Satu slip per periode; </a:t>
            </a:r>
            <a:r>
              <a:rPr sz="1300" b="0">
                <a:solidFill>
                  <a:srgbClr val="202833"/>
                </a:solidFill>
                <a:latin typeface="Segoe UI"/>
              </a:rPr>
              <a:t>koreksi = hapus lalu buat ulang.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71600"/>
            <a:ext cx="5532120" cy="489204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371600"/>
            <a:ext cx="5532120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517904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Segoe UI"/>
              </a:rPr>
              <a:t>Slip Gaji Saya (semua karyawan)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38528"/>
            <a:ext cx="516636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0">
                <a:solidFill>
                  <a:srgbClr val="202833"/>
                </a:solidFill>
                <a:latin typeface="Segoe UI"/>
              </a:rPr>
              <a:t>Setiap pengguna login melihat slip gajinya sendiri &amp; unduh PDF.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0">
                <a:solidFill>
                  <a:srgbClr val="202833"/>
                </a:solidFill>
                <a:latin typeface="Segoe UI"/>
              </a:rPr>
              <a:t>Hanya slip milik sendiri; tanpa izin khusus.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0">
                <a:solidFill>
                  <a:srgbClr val="202833"/>
                </a:solidFill>
                <a:latin typeface="Segoe UI"/>
              </a:rPr>
              <a:t>Tidak bisa mengubah apa pun — lihat &amp; unduh saja.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B3352F"/>
                </a:solidFill>
                <a:latin typeface="Segoe UI"/>
              </a:rPr>
              <a:t>Manager tak punya akses </a:t>
            </a:r>
            <a:r>
              <a:rPr sz="1300" b="0">
                <a:solidFill>
                  <a:srgbClr val="202833"/>
                </a:solidFill>
                <a:latin typeface="Segoe UI"/>
              </a:rPr>
              <a:t>kelola Slip Gaji (sengaja).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A8620A"/>
                </a:solidFill>
                <a:latin typeface="Segoe UI"/>
              </a:rPr>
              <a:t>Belum masuk Jurnal Kas otomatis: </a:t>
            </a:r>
            <a:r>
              <a:rPr sz="1300" b="0">
                <a:solidFill>
                  <a:srgbClr val="202833"/>
                </a:solidFill>
                <a:latin typeface="Segoe UI"/>
              </a:rPr>
              <a:t>pembayaran gaji dicatat manual.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G · Alat Kerja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33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G · MENU: TUGAS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Tugas — tiga cara melihat pekerjaan yang 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1F4E79"/>
                </a:solidFill>
                <a:latin typeface="Segoe UI"/>
              </a:rPr>
              <a:t>Papan Tugas: </a:t>
            </a:r>
            <a:r>
              <a:rPr sz="1300" b="0">
                <a:solidFill>
                  <a:srgbClr val="202833"/>
                </a:solidFill>
                <a:latin typeface="Segoe UI"/>
              </a:rPr>
              <a:t>kolom To Do, Dikerjakan, Selesai — geser kartu untuk ubah status.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B5731D"/>
                </a:solidFill>
                <a:latin typeface="Segoe UI"/>
              </a:rPr>
              <a:t>Kalender: </a:t>
            </a:r>
            <a:r>
              <a:rPr sz="1300" b="0">
                <a:solidFill>
                  <a:srgbClr val="202833"/>
                </a:solidFill>
                <a:latin typeface="Segoe UI"/>
              </a:rPr>
              <a:t>tugas pada tanggal tenggatnya; geser jadwal langsung.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0F6D70"/>
                </a:solidFill>
                <a:latin typeface="Segoe UI"/>
              </a:rPr>
              <a:t>Daftar Tugas: </a:t>
            </a:r>
            <a:r>
              <a:rPr sz="1300" b="0">
                <a:solidFill>
                  <a:srgbClr val="202833"/>
                </a:solidFill>
                <a:latin typeface="Segoe UI"/>
              </a:rPr>
              <a:t>tabel lengkap; paling cepat untuk menambah/mencari tugas.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202833"/>
                </a:solidFill>
                <a:latin typeface="Segoe UI"/>
              </a:rPr>
              <a:t>Isi tugas: </a:t>
            </a:r>
            <a:r>
              <a:rPr sz="1300" b="0">
                <a:solidFill>
                  <a:srgbClr val="202833"/>
                </a:solidFill>
                <a:latin typeface="Segoe UI"/>
              </a:rPr>
              <a:t>judul, deskripsi, status, prioritas (rendah/normal/tinggi), tenggat, pemilik.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202833"/>
                </a:solidFill>
                <a:latin typeface="Segoe UI"/>
              </a:rPr>
              <a:t>Penugasan: </a:t>
            </a:r>
            <a:r>
              <a:rPr sz="1300" b="0">
                <a:solidFill>
                  <a:srgbClr val="202833"/>
                </a:solidFill>
                <a:latin typeface="Segoe UI"/>
              </a:rPr>
              <a:t>bisa dibuatkan untuk orang lain (dapat notifikasi); ada pengingat menjelang tenggat; Pemantauan Tugas (manager/superadmin) melihat tugas tim.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6B7480"/>
                </a:solidFill>
                <a:latin typeface="Segoe UI"/>
              </a:rPr>
              <a:t>Tugas berbeda dari tahap naskah: </a:t>
            </a:r>
            <a:r>
              <a:rPr sz="1300" b="0">
                <a:solidFill>
                  <a:srgbClr val="6B7480"/>
                </a:solidFill>
                <a:latin typeface="Segoe UI"/>
              </a:rPr>
              <a:t>Papan Manuskrip melacak naskah; Tugas melacak pekerjaan orang.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G · Alat Kerja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34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G · MENU: LAPORAN / ALAT / PENGUMUMAN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Laporan Harian, Gudang Data, Pengumuman &amp; Notifikasi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1F5FBF"/>
                </a:solidFill>
                <a:latin typeface="Segoe UI"/>
              </a:rPr>
              <a:t>Laporan Harian (semua peran): </a:t>
            </a:r>
            <a:r>
              <a:rPr sz="1300" b="0">
                <a:solidFill>
                  <a:srgbClr val="202833"/>
                </a:solidFill>
                <a:latin typeface="Segoe UI"/>
              </a:rPr>
              <a:t>tulis apa yang dikerjakan hari ini, lampirkan berkas, lalu Setor. Laporan Bulanan = rekap; Pemantauan Laporan (manager+) = setoran tim.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1F4E79"/>
                </a:solidFill>
                <a:latin typeface="Segoe UI"/>
              </a:rPr>
              <a:t>Gudang Data (Alat): </a:t>
            </a:r>
            <a:r>
              <a:rPr sz="1300" b="0">
                <a:solidFill>
                  <a:srgbClr val="202833"/>
                </a:solidFill>
                <a:latin typeface="Segoe UI"/>
              </a:rPr>
              <a:t>simpan tautan Google Sheets &amp; berkas Excel/CSV. Privasi: pribadi atau dibagikan (bisa dibatasi per peran). Hanya pemilik yang ubah/hapus.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B5731D"/>
                </a:solidFill>
                <a:latin typeface="Segoe UI"/>
              </a:rPr>
              <a:t>Pengumuman (admin): </a:t>
            </a:r>
            <a:r>
              <a:rPr sz="1300" b="0">
                <a:solidFill>
                  <a:srgbClr val="202833"/>
                </a:solidFill>
                <a:latin typeface="Segoe UI"/>
              </a:rPr>
              <a:t>dibuat/diaktifkan admin, tampil ke semua; setiap orang bisa menandai sudah dibaca.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300" b="1">
                <a:solidFill>
                  <a:srgbClr val="0F6D70"/>
                </a:solidFill>
                <a:latin typeface="Segoe UI"/>
              </a:rPr>
              <a:t>Notifikasi (ikon lonceng): </a:t>
            </a:r>
            <a:r>
              <a:rPr sz="1300" b="0">
                <a:solidFill>
                  <a:srgbClr val="202833"/>
                </a:solidFill>
                <a:latin typeface="Segoe UI"/>
              </a:rPr>
              <a:t>dikirim ke yang berkepentingan (bukan disiarkan). Ditandai dibaca satu-satu atau sekaligus.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G · Alat Kerja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35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737360" cy="82296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058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DDE6F0"/>
                </a:solidFill>
                <a:latin typeface="Segoe UI"/>
              </a:rPr>
              <a:t>BAGIAN 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60704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Administrasi Sistem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0584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0">
                <a:solidFill>
                  <a:srgbClr val="E7EEF6"/>
                </a:solidFill>
                <a:latin typeface="Segoe UI"/>
              </a:rPr>
              <a:t>Pengelolaan pengguna, hak akses, dan akun pribadi — sebagian besar milik superadmin/manager.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H · MENU: AKUN &amp; 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Manajemen User, Hak Akses, Profil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1F4E79"/>
                </a:solidFill>
                <a:latin typeface="Segoe UI"/>
              </a:rPr>
              <a:t>Manajemen User (superadmin/manager): </a:t>
            </a:r>
            <a:r>
              <a:rPr sz="1400" b="0">
                <a:solidFill>
                  <a:srgbClr val="202833"/>
                </a:solidFill>
                <a:latin typeface="Segoe UI"/>
              </a:rPr>
              <a:t>buat, ubah, hapus, pulihkan (restore), hapus permanen pengguna; tetapkan peran.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B3352F"/>
                </a:solidFill>
                <a:latin typeface="Segoe UI"/>
              </a:rPr>
              <a:t>Hak Akses (superadmin): </a:t>
            </a:r>
            <a:r>
              <a:rPr sz="1400" b="0">
                <a:solidFill>
                  <a:srgbClr val="202833"/>
                </a:solidFill>
                <a:latin typeface="Segoe UI"/>
              </a:rPr>
              <a:t>halaman pusat izin — centang aksi per peran per modul; halaman &amp; pemeriksa membaca daftar yang sama, jadi yang tercentang itulah yang berlaku.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A8620A"/>
                </a:solidFill>
                <a:latin typeface="Segoe UI"/>
              </a:rPr>
              <a:t>Setelah izin diubah: </a:t>
            </a:r>
            <a:r>
              <a:rPr sz="1400" b="0">
                <a:solidFill>
                  <a:srgbClr val="202833"/>
                </a:solidFill>
                <a:latin typeface="Segoe UI"/>
              </a:rPr>
              <a:t>pengguna terkait sebaiknya logout-login agar izin baru terbaca.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202833"/>
                </a:solidFill>
                <a:latin typeface="Segoe UI"/>
              </a:rPr>
              <a:t>Profil (semua): </a:t>
            </a:r>
            <a:r>
              <a:rPr sz="1400" b="0">
                <a:solidFill>
                  <a:srgbClr val="202833"/>
                </a:solidFill>
                <a:latin typeface="Segoe UI"/>
              </a:rPr>
              <a:t>ubah data diri, foto, dan kata sandi.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400" b="1">
                <a:solidFill>
                  <a:srgbClr val="B5731D"/>
                </a:solidFill>
                <a:latin typeface="Segoe UI"/>
              </a:rPr>
              <a:t>▪  </a:t>
            </a:r>
            <a:r>
              <a:rPr sz="1400" b="1">
                <a:solidFill>
                  <a:srgbClr val="6B7480"/>
                </a:solidFill>
                <a:latin typeface="Segoe UI"/>
              </a:rPr>
              <a:t>Empat aksi hanya superadmin: </a:t>
            </a:r>
            <a:r>
              <a:rPr sz="1400" b="0">
                <a:solidFill>
                  <a:srgbClr val="6B7480"/>
                </a:solidFill>
                <a:latin typeface="Segoe UI"/>
              </a:rPr>
              <a:t>refund order, kunci/buka periode kas, template checklist dokumen, hapus riwayat papan manuskrip.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H · Administrasi Sistem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36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33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737360" cy="82296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058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DDE6F0"/>
                </a:solidFill>
                <a:latin typeface="Segoe UI"/>
              </a:rPr>
              <a:t>BAGIAN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60704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Helpdesk &amp; Troubleshooting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0584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0">
                <a:solidFill>
                  <a:srgbClr val="E7EEF6"/>
                </a:solidFill>
                <a:latin typeface="Segoe UI"/>
              </a:rPr>
              <a:t>Kumpulan masalah yang paling sering ditemui pengguna, sebab, dan solusinya — untuk tim helpdesk &amp; pengguna mandiri.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B33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HELPDESK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Akses, Login &amp; Menu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350" b="1">
                <a:solidFill>
                  <a:srgbClr val="B3352F"/>
                </a:solidFill>
                <a:latin typeface="Segoe UI"/>
              </a:rPr>
              <a:t>⛒  Tidak bisa login / lupa kata sandi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6B7480"/>
                </a:solidFill>
                <a:latin typeface="Segoe UI"/>
              </a:rPr>
              <a:t>        Sebab: </a:t>
            </a:r>
            <a:r>
              <a:rPr sz="1200">
                <a:solidFill>
                  <a:srgbClr val="202833"/>
                </a:solidFill>
                <a:latin typeface="Segoe UI"/>
              </a:rPr>
              <a:t>Kredensial salah atau lupa.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F7A4D"/>
                </a:solidFill>
                <a:latin typeface="Segoe UI"/>
              </a:rPr>
              <a:t>        Solusi: </a:t>
            </a:r>
            <a:r>
              <a:rPr sz="1200">
                <a:solidFill>
                  <a:srgbClr val="202833"/>
                </a:solidFill>
                <a:latin typeface="Segoe UI"/>
              </a:rPr>
              <a:t>Pakai tautan Lupa Password di halaman login (butuh email valid). Bila gagal, minta superadmin mereset lewat Manajemen User.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350" b="1">
                <a:solidFill>
                  <a:srgbClr val="B3352F"/>
                </a:solidFill>
                <a:latin typeface="Segoe UI"/>
              </a:rPr>
              <a:t>⛒  Menu yang saya butuhkan tidak muncul di sidebar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6B7480"/>
                </a:solidFill>
                <a:latin typeface="Segoe UI"/>
              </a:rPr>
              <a:t>        Sebab: </a:t>
            </a:r>
            <a:r>
              <a:rPr sz="1200">
                <a:solidFill>
                  <a:srgbClr val="202833"/>
                </a:solidFill>
                <a:latin typeface="Segoe UI"/>
              </a:rPr>
              <a:t>Peran Anda belum punya izin untuk modul itu (menu = cermin izin).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F7A4D"/>
                </a:solidFill>
                <a:latin typeface="Segoe UI"/>
              </a:rPr>
              <a:t>        Solusi: </a:t>
            </a:r>
            <a:r>
              <a:rPr sz="1200">
                <a:solidFill>
                  <a:srgbClr val="202833"/>
                </a:solidFill>
                <a:latin typeface="Segoe UI"/>
              </a:rPr>
              <a:t>Catat nama menu + aksi, minta superadmin buka Hak Akses, centang izin peran Anda, simpan, lalu Anda logout-login.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350" b="1">
                <a:solidFill>
                  <a:srgbClr val="B3352F"/>
                </a:solidFill>
                <a:latin typeface="Segoe UI"/>
              </a:rPr>
              <a:t>⛒  Buka halaman malah muncul 403 / Ditolak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6B7480"/>
                </a:solidFill>
                <a:latin typeface="Segoe UI"/>
              </a:rPr>
              <a:t>        Sebab: </a:t>
            </a:r>
            <a:r>
              <a:rPr sz="1200">
                <a:solidFill>
                  <a:srgbClr val="202833"/>
                </a:solidFill>
                <a:latin typeface="Segoe UI"/>
              </a:rPr>
              <a:t>Route diakses tanpa izin (mengetik alamat manual atau tautan lama).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F7A4D"/>
                </a:solidFill>
                <a:latin typeface="Segoe UI"/>
              </a:rPr>
              <a:t>        Solusi: </a:t>
            </a:r>
            <a:r>
              <a:rPr sz="1200">
                <a:solidFill>
                  <a:srgbClr val="202833"/>
                </a:solidFill>
                <a:latin typeface="Segoe UI"/>
              </a:rPr>
              <a:t>Gunakan menu dari sidebar. Bila memang perlu, minta penambahan izin lewat Hak Akses. Superadmin lolos otomatis.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350" b="1">
                <a:solidFill>
                  <a:srgbClr val="B3352F"/>
                </a:solidFill>
                <a:latin typeface="Segoe UI"/>
              </a:rPr>
              <a:t>⛒  Perubahan izin sudah dilakukan tapi belum berdampak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6B7480"/>
                </a:solidFill>
                <a:latin typeface="Segoe UI"/>
              </a:rPr>
              <a:t>        Sebab: </a:t>
            </a:r>
            <a:r>
              <a:rPr sz="1200">
                <a:solidFill>
                  <a:srgbClr val="202833"/>
                </a:solidFill>
                <a:latin typeface="Segoe UI"/>
              </a:rPr>
              <a:t>Sesi lama masih memakai izin lama, atau cache.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F7A4D"/>
                </a:solidFill>
                <a:latin typeface="Segoe UI"/>
              </a:rPr>
              <a:t>        Solusi: </a:t>
            </a:r>
            <a:r>
              <a:rPr sz="1200">
                <a:solidFill>
                  <a:srgbClr val="202833"/>
                </a:solidFill>
                <a:latin typeface="Segoe UI"/>
              </a:rPr>
              <a:t>Pengguna logout-login. Bila di server baru, jalankan seed AccessMatrixSeeder &amp; bersihkan cache.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Helpdesk &amp; Troubleshooting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37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B33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HELPDESK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Produksi Naskah &amp; Distribusi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350" b="1">
                <a:solidFill>
                  <a:srgbClr val="B3352F"/>
                </a:solidFill>
                <a:latin typeface="Segoe UI"/>
              </a:rPr>
              <a:t>⛒  Tidak menemukan tombol ubah editor/tahap di Pelacakan Naskah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6B7480"/>
                </a:solidFill>
                <a:latin typeface="Segoe UI"/>
              </a:rPr>
              <a:t>        Sebab: </a:t>
            </a:r>
            <a:r>
              <a:rPr sz="1200">
                <a:solidFill>
                  <a:srgbClr val="202833"/>
                </a:solidFill>
                <a:latin typeface="Segoe UI"/>
              </a:rPr>
              <a:t>Papan Pelacakan kini READ-ONLY (hanya memantau).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F7A4D"/>
                </a:solidFill>
                <a:latin typeface="Segoe UI"/>
              </a:rPr>
              <a:t>        Solusi: </a:t>
            </a:r>
            <a:r>
              <a:rPr sz="1200">
                <a:solidFill>
                  <a:srgbClr val="202833"/>
                </a:solidFill>
                <a:latin typeface="Segoe UI"/>
              </a:rPr>
              <a:t>Semua kontrol pindah ke menu Distribusi Artikel / Distribusi Buku. Buka judulnya di sana.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350" b="1">
                <a:solidFill>
                  <a:srgbClr val="B3352F"/>
                </a:solidFill>
                <a:latin typeface="Segoe UI"/>
              </a:rPr>
              <a:t>⛒  Tidak bisa memindahkan tahap naskah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6B7480"/>
                </a:solidFill>
                <a:latin typeface="Segoe UI"/>
              </a:rPr>
              <a:t>        Sebab: </a:t>
            </a:r>
            <a:r>
              <a:rPr sz="1200">
                <a:solidFill>
                  <a:srgbClr val="202833"/>
                </a:solidFill>
                <a:latin typeface="Segoe UI"/>
              </a:rPr>
              <a:t>Bukan domain peran Anda (production hanya tahap production), atau naskah sudah final (terkunci selain superadmin).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F7A4D"/>
                </a:solidFill>
                <a:latin typeface="Segoe UI"/>
              </a:rPr>
              <a:t>        Solusi: </a:t>
            </a:r>
            <a:r>
              <a:rPr sz="1200">
                <a:solidFill>
                  <a:srgbClr val="202833"/>
                </a:solidFill>
                <a:latin typeface="Segoe UI"/>
              </a:rPr>
              <a:t>Untuk tahap akhir (Cetak/Terbit/LoA/Publish) minta superadmin. Koreksi judul final juga lewat superadmin.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350" b="1">
                <a:solidFill>
                  <a:srgbClr val="B3352F"/>
                </a:solidFill>
                <a:latin typeface="Segoe UI"/>
              </a:rPr>
              <a:t>⛒  Ditolak saat mundur/lompat tahap: catatan wajib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6B7480"/>
                </a:solidFill>
                <a:latin typeface="Segoe UI"/>
              </a:rPr>
              <a:t>        Sebab: </a:t>
            </a:r>
            <a:r>
              <a:rPr sz="1200">
                <a:solidFill>
                  <a:srgbClr val="202833"/>
                </a:solidFill>
                <a:latin typeface="Segoe UI"/>
              </a:rPr>
              <a:t>Koreksi/lompat wajib mengisi catatan.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F7A4D"/>
                </a:solidFill>
                <a:latin typeface="Segoe UI"/>
              </a:rPr>
              <a:t>        Solusi: </a:t>
            </a:r>
            <a:r>
              <a:rPr sz="1200">
                <a:solidFill>
                  <a:srgbClr val="202833"/>
                </a:solidFill>
                <a:latin typeface="Segoe UI"/>
              </a:rPr>
              <a:t>Isi kolom Catatan dengan alasan yang jelas, lalu simpan lagi.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350" b="1">
                <a:solidFill>
                  <a:srgbClr val="B3352F"/>
                </a:solidFill>
                <a:latin typeface="Segoe UI"/>
              </a:rPr>
              <a:t>⛒  Tidak bisa upload file naskah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6B7480"/>
                </a:solidFill>
                <a:latin typeface="Segoe UI"/>
              </a:rPr>
              <a:t>        Sebab: </a:t>
            </a:r>
            <a:r>
              <a:rPr sz="1200">
                <a:solidFill>
                  <a:srgbClr val="202833"/>
                </a:solidFill>
                <a:latin typeface="Segoe UI"/>
              </a:rPr>
              <a:t>Format/ukuran tidak sesuai, atau judul belum tertaut (data lama tanpa title_id).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F7A4D"/>
                </a:solidFill>
                <a:latin typeface="Segoe UI"/>
              </a:rPr>
              <a:t>        Solusi: </a:t>
            </a:r>
            <a:r>
              <a:rPr sz="1200">
                <a:solidFill>
                  <a:srgbClr val="202833"/>
                </a:solidFill>
                <a:latin typeface="Segoe UI"/>
              </a:rPr>
              <a:t>Pakai PDF/DOC/DOCX/ZIP maks 20 MB. Untuk judul lama tanpa tautan, buat order/judul yang benar dulu.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350" b="1">
                <a:solidFill>
                  <a:srgbClr val="B3352F"/>
                </a:solidFill>
                <a:latin typeface="Segoe UI"/>
              </a:rPr>
              <a:t>⛒  Buku tidak muncul di Direktori ISBN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6B7480"/>
                </a:solidFill>
                <a:latin typeface="Segoe UI"/>
              </a:rPr>
              <a:t>        Sebab: </a:t>
            </a:r>
            <a:r>
              <a:rPr sz="1200">
                <a:solidFill>
                  <a:srgbClr val="202833"/>
                </a:solidFill>
                <a:latin typeface="Segoe UI"/>
              </a:rPr>
              <a:t>Tahap naskahnya belum mencapai ISBN.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F7A4D"/>
                </a:solidFill>
                <a:latin typeface="Segoe UI"/>
              </a:rPr>
              <a:t>        Solusi: </a:t>
            </a:r>
            <a:r>
              <a:rPr sz="1200">
                <a:solidFill>
                  <a:srgbClr val="202833"/>
                </a:solidFill>
                <a:latin typeface="Segoe UI"/>
              </a:rPr>
              <a:t>Majukan naskah sampai tahap ISBN di Distribusi Buku; setelah itu buku muncul sebagai kandidat.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Helpdesk &amp; Troubleshooting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38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B33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HELPDESK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Pembayaran, Invoice &amp; Arsip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350" b="1">
                <a:solidFill>
                  <a:srgbClr val="B3352F"/>
                </a:solidFill>
                <a:latin typeface="Segoe UI"/>
              </a:rPr>
              <a:t>⛒  Pembayaran sudah disetor tapi order belum Lunas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6B7480"/>
                </a:solidFill>
                <a:latin typeface="Segoe UI"/>
              </a:rPr>
              <a:t>        Sebab: </a:t>
            </a:r>
            <a:r>
              <a:rPr sz="1200">
                <a:solidFill>
                  <a:srgbClr val="202833"/>
                </a:solidFill>
                <a:latin typeface="Segoe UI"/>
              </a:rPr>
              <a:t>Baru DP, atau pelunasan belum masuk/disetujui.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F7A4D"/>
                </a:solidFill>
                <a:latin typeface="Segoe UI"/>
              </a:rPr>
              <a:t>        Solusi: </a:t>
            </a:r>
            <a:r>
              <a:rPr sz="1200">
                <a:solidFill>
                  <a:srgbClr val="202833"/>
                </a:solidFill>
                <a:latin typeface="Segoe UI"/>
              </a:rPr>
              <a:t>Setor jenis Pelunasan/Lunas; minta manager menyetujui. Order jadi Lunas saat uang bersih menutup biaya.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350" b="1">
                <a:solidFill>
                  <a:srgbClr val="B3352F"/>
                </a:solidFill>
                <a:latin typeface="Segoe UI"/>
              </a:rPr>
              <a:t>⛒  Angka Laporan Keuangan beda dengan sisa tagihan order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6B7480"/>
                </a:solidFill>
                <a:latin typeface="Segoe UI"/>
              </a:rPr>
              <a:t>        Sebab: </a:t>
            </a:r>
            <a:r>
              <a:rPr sz="1200">
                <a:solidFill>
                  <a:srgbClr val="202833"/>
                </a:solidFill>
                <a:latin typeface="Segoe UI"/>
              </a:rPr>
              <a:t>Order pernah di-refund. Pemasukan (pelaporan) tak mengurangi refund; Uang bersih (status order) mengurangi refund.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F7A4D"/>
                </a:solidFill>
                <a:latin typeface="Segoe UI"/>
              </a:rPr>
              <a:t>        Solusi: </a:t>
            </a:r>
            <a:r>
              <a:rPr sz="1200">
                <a:solidFill>
                  <a:srgbClr val="202833"/>
                </a:solidFill>
                <a:latin typeface="Segoe UI"/>
              </a:rPr>
              <a:t>Ini DISENGAJA, bukan error. Cek riwayat pembayaran order untuk rinciannya.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350" b="1">
                <a:solidFill>
                  <a:srgbClr val="B3352F"/>
                </a:solidFill>
                <a:latin typeface="Segoe UI"/>
              </a:rPr>
              <a:t>⛒  Judul tidak bisa diarsipkan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6B7480"/>
                </a:solidFill>
                <a:latin typeface="Segoe UI"/>
              </a:rPr>
              <a:t>        Sebab: </a:t>
            </a:r>
            <a:r>
              <a:rPr sz="1200">
                <a:solidFill>
                  <a:srgbClr val="202833"/>
                </a:solidFill>
                <a:latin typeface="Segoe UI"/>
              </a:rPr>
              <a:t>Belum memenuhi dua syarat: semua order lunas DAN naskah final (semua bab).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F7A4D"/>
                </a:solidFill>
                <a:latin typeface="Segoe UI"/>
              </a:rPr>
              <a:t>        Solusi: </a:t>
            </a:r>
            <a:r>
              <a:rPr sz="1200">
                <a:solidFill>
                  <a:srgbClr val="202833"/>
                </a:solidFill>
                <a:latin typeface="Segoe UI"/>
              </a:rPr>
              <a:t>Lunasi sisa order dan pastikan tahap mencapai Terbit/Publish, lalu ajukan arsip.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350" b="1">
                <a:solidFill>
                  <a:srgbClr val="B3352F"/>
                </a:solidFill>
                <a:latin typeface="Segoe UI"/>
              </a:rPr>
              <a:t>⛒  Invoice/PDF atau email ke klien tidak keluar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6B7480"/>
                </a:solidFill>
                <a:latin typeface="Segoe UI"/>
              </a:rPr>
              <a:t>        Sebab: </a:t>
            </a:r>
            <a:r>
              <a:rPr sz="1200">
                <a:solidFill>
                  <a:srgbClr val="202833"/>
                </a:solidFill>
                <a:latin typeface="Segoe UI"/>
              </a:rPr>
              <a:t>Invoice belum disetujui, atau centang kirim email tidak diaktifkan.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F7A4D"/>
                </a:solidFill>
                <a:latin typeface="Segoe UI"/>
              </a:rPr>
              <a:t>        Solusi: </a:t>
            </a:r>
            <a:r>
              <a:rPr sz="1200">
                <a:solidFill>
                  <a:srgbClr val="202833"/>
                </a:solidFill>
                <a:latin typeface="Segoe UI"/>
              </a:rPr>
              <a:t>Setujui pembayaran; pastikan email klien benar &amp; opsi kirim dicentang saat setor.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Helpdesk &amp; Troubleshooting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39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B33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DE6F0"/>
                </a:solidFill>
                <a:latin typeface="Segoe UI"/>
              </a:rPr>
              <a:t>HELPDESK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Keuangan, Slip Gaji, Data &amp; Sistem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350" b="1">
                <a:solidFill>
                  <a:srgbClr val="B3352F"/>
                </a:solidFill>
                <a:latin typeface="Segoe UI"/>
              </a:rPr>
              <a:t>⛒  Pembayaran gaji tidak muncul di Jurnal Kas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6B7480"/>
                </a:solidFill>
                <a:latin typeface="Segoe UI"/>
              </a:rPr>
              <a:t>        Sebab: </a:t>
            </a:r>
            <a:r>
              <a:rPr sz="1200">
                <a:solidFill>
                  <a:srgbClr val="202833"/>
                </a:solidFill>
                <a:latin typeface="Segoe UI"/>
              </a:rPr>
              <a:t>Slip Gaji sengaja berdiri sendiri dari Jurnal Kas (belum otomatis).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F7A4D"/>
                </a:solidFill>
                <a:latin typeface="Segoe UI"/>
              </a:rPr>
              <a:t>        Solusi: </a:t>
            </a:r>
            <a:r>
              <a:rPr sz="1200">
                <a:solidFill>
                  <a:srgbClr val="202833"/>
                </a:solidFill>
                <a:latin typeface="Segoe UI"/>
              </a:rPr>
              <a:t>Catat pembayaran gaji manual sebagai entri pengeluaran di Jurnal Kas.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350" b="1">
                <a:solidFill>
                  <a:srgbClr val="B3352F"/>
                </a:solidFill>
                <a:latin typeface="Segoe UI"/>
              </a:rPr>
              <a:t>⛒  Tidak bisa mengubah entri kas bulan lalu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6B7480"/>
                </a:solidFill>
                <a:latin typeface="Segoe UI"/>
              </a:rPr>
              <a:t>        Sebab: </a:t>
            </a:r>
            <a:r>
              <a:rPr sz="1200">
                <a:solidFill>
                  <a:srgbClr val="202833"/>
                </a:solidFill>
                <a:latin typeface="Segoe UI"/>
              </a:rPr>
              <a:t>Periode sudah dikunci superadmin.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F7A4D"/>
                </a:solidFill>
                <a:latin typeface="Segoe UI"/>
              </a:rPr>
              <a:t>        Solusi: </a:t>
            </a:r>
            <a:r>
              <a:rPr sz="1200">
                <a:solidFill>
                  <a:srgbClr val="202833"/>
                </a:solidFill>
                <a:latin typeface="Segoe UI"/>
              </a:rPr>
              <a:t>Minta superadmin membuka kunci periode bila memang perlu koreksi, lalu kunci lagi.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350" b="1">
                <a:solidFill>
                  <a:srgbClr val="B3352F"/>
                </a:solidFill>
                <a:latin typeface="Segoe UI"/>
              </a:rPr>
              <a:t>⛒  Data gagal tersimpan / form kosong sendiri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6B7480"/>
                </a:solidFill>
                <a:latin typeface="Segoe UI"/>
              </a:rPr>
              <a:t>        Sebab: </a:t>
            </a:r>
            <a:r>
              <a:rPr sz="1200">
                <a:solidFill>
                  <a:srgbClr val="202833"/>
                </a:solidFill>
                <a:latin typeface="Segoe UI"/>
              </a:rPr>
              <a:t>Sesi berakhir karena lama tak aktif, atau koneksi terputus.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F7A4D"/>
                </a:solidFill>
                <a:latin typeface="Segoe UI"/>
              </a:rPr>
              <a:t>        Solusi: </a:t>
            </a:r>
            <a:r>
              <a:rPr sz="1200">
                <a:solidFill>
                  <a:srgbClr val="202833"/>
                </a:solidFill>
                <a:latin typeface="Segoe UI"/>
              </a:rPr>
              <a:t>Login ulang lalu ulangi. Jangan menekan Simpan dua kali (sistem sudah mencegah dobel, tapi tunggu prosesnya).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350" b="1">
                <a:solidFill>
                  <a:srgbClr val="B3352F"/>
                </a:solidFill>
                <a:latin typeface="Segoe UI"/>
              </a:rPr>
              <a:t>⛒  Notifikasi tidak muncul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6B7480"/>
                </a:solidFill>
                <a:latin typeface="Segoe UI"/>
              </a:rPr>
              <a:t>        Sebab: </a:t>
            </a:r>
            <a:r>
              <a:rPr sz="1200">
                <a:solidFill>
                  <a:srgbClr val="202833"/>
                </a:solidFill>
                <a:latin typeface="Segoe UI"/>
              </a:rPr>
              <a:t>Aksi tidak menyasar Anda, atau belum di-refresh.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F7A4D"/>
                </a:solidFill>
                <a:latin typeface="Segoe UI"/>
              </a:rPr>
              <a:t>        Solusi: </a:t>
            </a:r>
            <a:r>
              <a:rPr sz="1200">
                <a:solidFill>
                  <a:srgbClr val="202833"/>
                </a:solidFill>
                <a:latin typeface="Segoe UI"/>
              </a:rPr>
              <a:t>Muat ulang halaman / buka ikon lonceng. Notifikasi hanya ke pihak berkepentingan.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350" b="1">
                <a:solidFill>
                  <a:srgbClr val="B3352F"/>
                </a:solidFill>
                <a:latin typeface="Segoe UI"/>
              </a:rPr>
              <a:t>⛒  Eskalasi bila buntu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6B7480"/>
                </a:solidFill>
                <a:latin typeface="Segoe UI"/>
              </a:rPr>
              <a:t>        Sebab: </a:t>
            </a:r>
            <a:r>
              <a:rPr sz="1200">
                <a:solidFill>
                  <a:srgbClr val="202833"/>
                </a:solidFill>
                <a:latin typeface="Segoe UI"/>
              </a:rPr>
              <a:t>Masalah di luar wewenang peran Anda.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F7A4D"/>
                </a:solidFill>
                <a:latin typeface="Segoe UI"/>
              </a:rPr>
              <a:t>        Solusi: </a:t>
            </a:r>
            <a:r>
              <a:rPr sz="1200">
                <a:solidFill>
                  <a:srgbClr val="202833"/>
                </a:solidFill>
                <a:latin typeface="Segoe UI"/>
              </a:rPr>
              <a:t>Hubungi Superadmin (izin, refund, kunci periode, tahap akhir) atau Manager (persetujuan, target, pemantauan).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B7480"/>
                </a:solidFill>
                <a:latin typeface="Segoe UI"/>
              </a:rPr>
              <a:t>Helpdesk &amp; Troubleshooting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502152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950" b="0">
                <a:solidFill>
                  <a:srgbClr val="6B7480"/>
                </a:solidFill>
                <a:latin typeface="Segoe UI"/>
              </a:rPr>
              <a:t>SiMAPA v2 · Panduan Pengguna    40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64008"/>
          </a:xfrm>
          <a:prstGeom prst="rect">
            <a:avLst/>
          </a:prstGeom>
          <a:solidFill>
            <a:srgbClr val="B57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33272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800" b="0">
                <a:solidFill>
                  <a:srgbClr val="E7EEF6"/>
                </a:solidFill>
                <a:latin typeface="Segoe UI"/>
              </a:rPr>
              <a:t>Satu kalimat untuk diingat: catat di tempat asalnya, sekali saja — sisanya sistem yang mengurus.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33272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CFDCEC"/>
                </a:solidFill>
                <a:latin typeface="Segoe UI"/>
              </a:rPr>
              <a:t>Ragu alur? Buka bagian modulnya.   Ragu akses? Menu di sidebar jawabannya, minta Hak Akses bila kurang.   Angka janggal? Telusuri Riwayat (invoice / naskah / kas).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DDE6F0"/>
                </a:solidFill>
                <a:latin typeface="Segoe UI"/>
              </a:rPr>
              <a:t>SiMAPA v2 · Sistem Manajemen Penerbitan · Panduan Pengguna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